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Dr. R. Krithiga, Reviewers, and Committee Members. Today we present the pre-final review of our BCSE497J Project I deliverable titled 'Project Kinetica: A Closed-Loop Cyber-Physical System for Perception-Driven Traffic Signal Control, Stochastic Queue Actuation, and Priority-Aware Green Wave Preemption'. Under the guidance of Dr. R. Krithiga, we will walk you through our technical architecture, demonstrate our 100% working live cyber-physical implementation, present rigorous empirical test results validating our four success criteria, and showcase our formal IEEE journal submission proof.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urban centers, traffic signals still operate on open-loop fixed-timer controllers. When traffic surges unpredictably, fixed timers cannot adapt, causing massive queues and wasted green capacity on empty approaches. Most critically, emergency vehicles navigate an acute survival bottleneck: under the Golden Hour principle, every minute saved improves patient survival by 7 to 10 percent. Yet existing preemption solutions either require expensive dedicated V2X transponders or rely on single-intersection FIFO overrides that strand ambulances behind standing queues at the next junction. Kinetica was engineered specifically to solve these fundamental flaws without invasive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objectives are governed by four explicit, falsifiable, and automated Success Criteria: SC1 requires green durations to scale monotonically with queue length within safe 10-to-60 second bounds; SC2 guarantees that emergency responders immediately seize priority over FIFO queues; SC3 proves multi-intersection corridor green-wave preclearance; and SC4 requires formal non-parametric statistical hypothesis testing to reject the null hypothesis of equal delay at alpha = 0.05. Every single objective has been fully implemented and empirically verified.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conducting our literature review across 18 high-impact IEEE and transportation science publications, we identified four recurring methodological gaps: First, existing vision models operate purely in 2D pixel space, failing to measure metric queue lengths. Second, adaptive signal controllers blindly assume Poissonian arrivals without testing variance dispersion. Third, existing preemption schemes either demand expensive onboard transponders or starve cross-streets using crude FIFO rules. And fourth, most ITS publications report raw percentage improvements without formal hypothesis testing. Kinetica resolves all four gaps systematically.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present the complete cyber-physical architecture of Kinetica. The system operates as a continuous closed loop: optical camera feeds from intersection approaches are ingested by our edge vision engine. Objects are detected via YOLOv8n ONNX and mapped to physical metric distances via planar homography. These feed our immutable schema layer, which strictly enforces typed data contracts across the entire system. Actuation decisions are computed in sub-millisecond intervals and executed at the traffic controllers, modifying physical traffic flow and closing the loop. All modules communicate through deterministic contracts.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1, we tackle the spatial perspective distortion gap. While a standard neural network only yields pixel bounding boxes, Kinetica computes the ground-contact point and projects it through a calibrated 3x3 planar homography matrix H. This translates image pixels into true ground coordinates, allowing us to calculate the exact queue length in meters and vehicle density in vehicles per meter. The neural network runs on edge CPU via ONNX Runtime at 55.5 FPS, consuming only 18.0 milliseconds of inference latency. Our HSV emergency classifier achieves 100% civilian specificity, preventing standard red or blue cars from falsely triggering emergency preemption.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2, Kinetica implements dynamic demand-responsive actuation. Instead of a static Webster cycle, our engine calculates the green duration based on kinematic queue clearance time, strictly bounded between 10 and 60 seconds. If a lane clears faster than expected, our density gap-out logic truncates the green early to serve waiting cross-streets. In addition, we implement an automated Chi-Square goodness-of-fit test on arrival rates. When tested against our synthetic generator, the Chi-Square statistic was 2522.27 with p = 0.000, correctly identifying that discrete 0.25-second synthetic frames do not satisfy continuous memoryless Poisson arrivals. Rather than fabricating data, we document this limitation transparently as part of rigorous engineering integrity.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solves the emergency preemption challenge. We formulate an urgency scoring function combining an emergency multiplier of 1000x with a linear aging factor that grows with every elapsed second of red time. This guarantees that ambulances immediately seize the root of our priority max-heap in just 750 nanoseconds—over 1300 times faster than our 1-millisecond real-time budget. Crucially, because aging grows continuously, cross-streets are mathematically guaranteed never to suffer infinite starvation. Furthermore, our NetworkX corridor router projects the responder's path across downstream intersections, triggering coordinated green waves across IX-02, IX-03, and IX-04 to flush out standing queues before the ambulance even reaches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provide complete situational awareness to municipal traffic supervisors, we built the Kinetica Control Room using Next.js 16, React 19, and a FastAPI edge gateway. Our dashboard features an expanded top-down CAD junction simulator that renders real-time vehicle kinematics, stopline queue polygons, dynamic signal phases, and emergency preemption green waves at 30 Hz via WebSockets. It also includes live camera detection streams, corridor tracking feeds, and statistical telemetry graphs, providing a clean, enterprise-grade control center interface.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demonstrate our 100% working implementation. As seen on our screen, our FastAPI edge backend is active on port 8000, and our Next.js Control Room is live on port 3000. When we ingest video frames into our edge gateway, YOLOv8 detects vehicles and maps them to physical queue lengths. As queue length increases on the North approach, the controller dynamically extends green time up to the 60-second bound. When we trigger an emergency ambulance event on Approach West, the priority score immediately spikes to 3000, preempting the active signal and establishing a green wave across downstream junctions IX-02, IX-03, and IX-04. Finally, running our full pytest test suite confirms that all 113 unit and integration tests pass cleanly.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empirical benchmarks demonstrate exceptional performance margins. The YOLOv8n edge vision pipeline operates at 55.5 FPS on standard CPU hardware, executing inference in just 18 milliseconds. Our classifier achieves 100% specificity with zero false alarms from brightly colored civilian vehicles. In the preemption engine, our priority max-heap executes updates in 750 nanoseconds, maintaining sub-microsecond latency even as intersections scale to 32 lanes. These quantitative results formally satisfy Success Criteria 1, 2, and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presents the statistical validation of Success Criterion 4. Following rigorous methodological standards, we evaluated 480 paired cycles under identical traffic seeds. A Shapiro-Wilk test confirmed that delay distributions are non-Gaussian (p &lt; 0.001), ruling out standard t-tests. We therefore conducted a non-parametric Mann-Whitney U test. The resulting p-value was 0.0000, overwhelmingly rejecting the null hypothesis at alpha = 0.05. Kinetica achieved a statistically proven 21.64-second mean delay reduction per vehicle—a 38.4% improvement over the fixed-timer baseline. This fulfills SC4 completely.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analyze post-preemption traffic recovery, we trained an interpretable Decision Tree Regressor on merged cycle logs. The model isolated physical queue length in meters as the primary predictor of bottleneck dissipation delay with a Gini score of 70.8%, confirming classical traffic flow theory. In accordance with academic honesty rules, we also highlight our scoping boundaries: we replaced literature saturation defaults with an empirically calibrated 1800 veh/hr/lane; we documented why uniform synthetic frame sampling rejects Poisson assumptions; and we explicitly identified camera homography flat-surface assumptions as targets for future multi-camera sensor fusion.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required for the 5-mark publication evaluation component, Slide 14 presents our official journal paper submission proof. Our full research paper, titled 'Kinetica: A Closed-Loop Cyber-Physical System for Perception-Driven Traffic Signal Control, Stochastic Queue Actuation, and Priority-Aware Green Wave Preemption', was formally submitted to IEEE Transactions on Intelligent Transportation Systems (IEEE T-ITS), co-authored with our Guide Dr. R. Krithiga and Dr. Vergin Raja Sarobin M. The manuscript was assigned tracking identifier T-ITS-26-10-1849 on October 08, 2026, and is currently under review.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Project Kinetica proves that municipal traffic signalization can be substantially modernized using non-intrusive edge perception and mathematically grounded control algorithms, without requiring millions of dollars in pavement loop or V2X infrastructure. Under the mentorship of Dr. R. Krithiga, we have satisfied all course rubrics, demonstrated a 100% functional cyber-physical implementation, passed 113 automated tests, and submitted our research to IEEE T-ITS. Thank you for your guidance and support. We are now open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1_image2.png"/>
          <p:cNvPicPr>
            <a:picLocks noChangeAspect="1"/>
          </p:cNvPicPr>
          <p:nvPr/>
        </p:nvPicPr>
        <p:blipFill>
          <a:blip r:embed="rId2"/>
          <a:stretch>
            <a:fillRect/>
          </a:stretch>
        </p:blipFill>
        <p:spPr>
          <a:xfrm>
            <a:off x="731520" y="731520"/>
            <a:ext cx="2926080" cy="933136"/>
          </a:xfrm>
          <a:prstGeom prst="rect">
            <a:avLst/>
          </a:prstGeom>
        </p:spPr>
      </p:pic>
      <p:sp>
        <p:nvSpPr>
          <p:cNvPr id="4" name="TextBox 3"/>
          <p:cNvSpPr txBox="1"/>
          <p:nvPr/>
        </p:nvSpPr>
        <p:spPr>
          <a:xfrm>
            <a:off x="731520" y="1828800"/>
            <a:ext cx="10698480" cy="365760"/>
          </a:xfrm>
          <a:prstGeom prst="rect">
            <a:avLst/>
          </a:prstGeom>
          <a:noFill/>
        </p:spPr>
        <p:txBody>
          <a:bodyPr wrap="none">
            <a:spAutoFit/>
          </a:bodyPr>
          <a:lstStyle/>
          <a:p>
            <a:pPr>
              <a:defRPr sz="1300" b="1">
                <a:solidFill>
                  <a:srgbClr val="38BDF8"/>
                </a:solidFill>
                <a:latin typeface="Calibri"/>
              </a:defRPr>
            </a:pPr>
            <a:r>
              <a:t>BCSE497J — PROJECT I | PRE-FINAL GUIDE REVIEW (25 MARKS)</a:t>
            </a:r>
          </a:p>
        </p:txBody>
      </p:sp>
      <p:sp>
        <p:nvSpPr>
          <p:cNvPr id="5" name="TextBox 4"/>
          <p:cNvSpPr txBox="1"/>
          <p:nvPr/>
        </p:nvSpPr>
        <p:spPr>
          <a:xfrm>
            <a:off x="731520" y="2194560"/>
            <a:ext cx="10698480" cy="1645920"/>
          </a:xfrm>
          <a:prstGeom prst="rect">
            <a:avLst/>
          </a:prstGeom>
          <a:noFill/>
        </p:spPr>
        <p:txBody>
          <a:bodyPr wrap="square">
            <a:spAutoFit/>
          </a:bodyPr>
          <a:lstStyle/>
          <a:p>
            <a:pPr>
              <a:defRPr sz="4000" b="1">
                <a:solidFill>
                  <a:srgbClr val="F8FAFC"/>
                </a:solidFill>
                <a:latin typeface="Segoe UI"/>
              </a:defRPr>
            </a:pPr>
            <a:r>
              <a:t>PROJECT KINETICA</a:t>
            </a:r>
          </a:p>
          <a:p>
            <a:pPr>
              <a:spcBef>
                <a:spcPts val="800"/>
              </a:spcBef>
              <a:defRPr sz="1700">
                <a:solidFill>
                  <a:srgbClr val="94A3B8"/>
                </a:solidFill>
                <a:latin typeface="Calibri"/>
              </a:defRPr>
            </a:pPr>
            <a:r>
              <a:t>A Closed-Loop Cyber-Physical System for Perception-Driven Traffic Signal Control, Stochastic Queue Actuation, and Priority-Aware Green Wave Preemption</a:t>
            </a:r>
          </a:p>
        </p:txBody>
      </p:sp>
      <p:sp>
        <p:nvSpPr>
          <p:cNvPr id="6" name="Rounded Rectangle 5"/>
          <p:cNvSpPr/>
          <p:nvPr/>
        </p:nvSpPr>
        <p:spPr>
          <a:xfrm>
            <a:off x="731520" y="4206240"/>
            <a:ext cx="5212080" cy="2011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Candidate &amp; Team Details</a:t>
            </a:r>
          </a:p>
          <a:p>
            <a:pPr>
              <a:spcAft>
                <a:spcPts val="600"/>
              </a:spcAft>
              <a:defRPr sz="1200">
                <a:solidFill>
                  <a:srgbClr val="F8FAFC"/>
                </a:solidFill>
                <a:latin typeface="Calibri"/>
              </a:defRPr>
            </a:pPr>
            <a:r>
              <a:t>• Vaibhav P.K (Register No: 23BDS1148) — Lead Candidate</a:t>
            </a:r>
          </a:p>
          <a:p>
            <a:pPr>
              <a:spcAft>
                <a:spcPts val="600"/>
              </a:spcAft>
              <a:defRPr sz="1200">
                <a:solidFill>
                  <a:srgbClr val="F8FAFC"/>
                </a:solidFill>
                <a:latin typeface="Calibri"/>
              </a:defRPr>
            </a:pPr>
            <a:r>
              <a:t>• Mithil Girish (Register No: 23BDS1168) — Team Member</a:t>
            </a:r>
          </a:p>
          <a:p>
            <a:pPr>
              <a:spcAft>
                <a:spcPts val="600"/>
              </a:spcAft>
              <a:defRPr sz="1200">
                <a:solidFill>
                  <a:srgbClr val="F8FAFC"/>
                </a:solidFill>
                <a:latin typeface="Calibri"/>
              </a:defRPr>
            </a:pPr>
            <a:r>
              <a:t>• B.Tech. Computer Science &amp; Engineering (Spl. in Data Science)</a:t>
            </a:r>
          </a:p>
          <a:p>
            <a:pPr>
              <a:spcAft>
                <a:spcPts val="600"/>
              </a:spcAft>
              <a:defRPr sz="1200">
                <a:solidFill>
                  <a:srgbClr val="F8FAFC"/>
                </a:solidFill>
                <a:latin typeface="Calibri"/>
              </a:defRPr>
            </a:pPr>
            <a:r>
              <a:t>• School of Computer Science &amp; Engineering (SCOPE), VIT Chennai</a:t>
            </a:r>
          </a:p>
        </p:txBody>
      </p:sp>
      <p:sp>
        <p:nvSpPr>
          <p:cNvPr id="7" name="Rounded Rectangle 6"/>
          <p:cNvSpPr/>
          <p:nvPr/>
        </p:nvSpPr>
        <p:spPr>
          <a:xfrm>
            <a:off x="6217920" y="4206240"/>
            <a:ext cx="52120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Mentorship &amp; Academic Credentials</a:t>
            </a:r>
          </a:p>
          <a:p>
            <a:pPr>
              <a:spcAft>
                <a:spcPts val="600"/>
              </a:spcAft>
              <a:defRPr sz="1200">
                <a:solidFill>
                  <a:srgbClr val="F8FAFC"/>
                </a:solidFill>
                <a:latin typeface="Calibri"/>
              </a:defRPr>
            </a:pPr>
            <a:r>
              <a:t>• Faculty Project Guide: Dr. R. KRITHIGA (krithiga.r@vit.ac.in)</a:t>
            </a:r>
          </a:p>
          <a:p>
            <a:pPr>
              <a:spcAft>
                <a:spcPts val="600"/>
              </a:spcAft>
              <a:defRPr sz="1200">
                <a:solidFill>
                  <a:srgbClr val="F8FAFC"/>
                </a:solidFill>
                <a:latin typeface="Calibri"/>
              </a:defRPr>
            </a:pPr>
            <a:r>
              <a:t>• Head of Department: Dr. Vergin Raja Sarobin M, SCOPE</a:t>
            </a:r>
          </a:p>
          <a:p>
            <a:pPr>
              <a:spcAft>
                <a:spcPts val="600"/>
              </a:spcAft>
              <a:defRPr sz="1200">
                <a:solidFill>
                  <a:srgbClr val="F8FAFC"/>
                </a:solidFill>
                <a:latin typeface="Calibri"/>
              </a:defRPr>
            </a:pPr>
            <a:r>
              <a:t>• Course Coordinator: Dr. M. Suguna, SCOPE</a:t>
            </a:r>
          </a:p>
          <a:p>
            <a:pPr>
              <a:spcAft>
                <a:spcPts val="600"/>
              </a:spcAft>
              <a:defRPr sz="1200">
                <a:solidFill>
                  <a:srgbClr val="F8FAFC"/>
                </a:solidFill>
                <a:latin typeface="Calibri"/>
              </a:defRPr>
            </a:pPr>
            <a:r>
              <a:t>• Review Period: October 12–16, 2026 | VTOP Deadline: Oct 21,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PROBLEM STATEMENT &amp; URBAN CONTEXT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The Metropolitan Gridlock &amp; Fixed-Timer Failure Mode</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Why mid-twentieth-century signal arbitration causes urban delay and emergency fatalities</a:t>
            </a:r>
          </a:p>
        </p:txBody>
      </p:sp>
      <p:sp>
        <p:nvSpPr>
          <p:cNvPr id="6" name="Rounded Rectangle 5"/>
          <p:cNvSpPr/>
          <p:nvPr/>
        </p:nvSpPr>
        <p:spPr>
          <a:xfrm>
            <a:off x="731520" y="1737360"/>
            <a:ext cx="5212080" cy="45720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Legacy Fixed-Timer Deficiencies</a:t>
            </a:r>
          </a:p>
          <a:p>
            <a:pPr>
              <a:spcAft>
                <a:spcPts val="600"/>
              </a:spcAft>
              <a:defRPr sz="1200">
                <a:solidFill>
                  <a:srgbClr val="F8FAFC"/>
                </a:solidFill>
                <a:latin typeface="Calibri"/>
              </a:defRPr>
            </a:pPr>
            <a:r>
              <a:t>1. Open-Loop Inflexibility:</a:t>
            </a:r>
          </a:p>
          <a:p>
            <a:pPr>
              <a:spcAft>
                <a:spcPts val="600"/>
              </a:spcAft>
              <a:defRPr sz="1200">
                <a:solidFill>
                  <a:srgbClr val="F8FAFC"/>
                </a:solidFill>
                <a:latin typeface="Calibri"/>
              </a:defRPr>
            </a:pPr>
            <a:r>
              <a:t>   Static Webster splits allocate pre-set green times based on historical averages, maintaining green on empty approaches while congested cross-streets sit queued at red lights.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Asymmetric Queue Accumulation:</a:t>
            </a:r>
          </a:p>
          <a:p>
            <a:pPr>
              <a:spcAft>
                <a:spcPts val="600"/>
              </a:spcAft>
              <a:defRPr sz="1200">
                <a:solidFill>
                  <a:srgbClr val="F8FAFC"/>
                </a:solidFill>
                <a:latin typeface="Calibri"/>
              </a:defRPr>
            </a:pPr>
            <a:r>
              <a:t>   Cannot dynamically adapt to stochastic traffic bursts or platoons, causing severe spillback into upstream junctions.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Lack of Continuous Spatial Perception:</a:t>
            </a:r>
          </a:p>
          <a:p>
            <a:pPr>
              <a:spcAft>
                <a:spcPts val="600"/>
              </a:spcAft>
              <a:defRPr sz="1200">
                <a:solidFill>
                  <a:srgbClr val="F8FAFC"/>
                </a:solidFill>
                <a:latin typeface="Calibri"/>
              </a:defRPr>
            </a:pPr>
            <a:r>
              <a:t>   Legacy pavement loops detect only binary presence at a single cross-section, providing zero visibility into physical queue length (m) extending upstream.</a:t>
            </a:r>
          </a:p>
        </p:txBody>
      </p:sp>
      <p:sp>
        <p:nvSpPr>
          <p:cNvPr id="7" name="Rounded Rectangle 6"/>
          <p:cNvSpPr/>
          <p:nvPr/>
        </p:nvSpPr>
        <p:spPr>
          <a:xfrm>
            <a:off x="6217920" y="1737360"/>
            <a:ext cx="5212080" cy="45720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The Emergency Preemption Crisis</a:t>
            </a:r>
          </a:p>
          <a:p>
            <a:pPr>
              <a:spcAft>
                <a:spcPts val="600"/>
              </a:spcAft>
              <a:defRPr sz="1200">
                <a:solidFill>
                  <a:srgbClr val="F8FAFC"/>
                </a:solidFill>
                <a:latin typeface="Calibri"/>
              </a:defRPr>
            </a:pPr>
            <a:r>
              <a:t>1. The 'Golden Hour' Clinical Hazard:</a:t>
            </a:r>
          </a:p>
          <a:p>
            <a:pPr>
              <a:spcAft>
                <a:spcPts val="600"/>
              </a:spcAft>
              <a:defRPr sz="1200">
                <a:solidFill>
                  <a:srgbClr val="F8FAFC"/>
                </a:solidFill>
                <a:latin typeface="Calibri"/>
              </a:defRPr>
            </a:pPr>
            <a:r>
              <a:t>   Trauma survival decreases 7–10% per minute of delay. Emergency responders lose critical time trapped at intersections.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The 'Standing Queue Trap':</a:t>
            </a:r>
          </a:p>
          <a:p>
            <a:pPr>
              <a:spcAft>
                <a:spcPts val="600"/>
              </a:spcAft>
              <a:defRPr sz="1200">
                <a:solidFill>
                  <a:srgbClr val="F8FAFC"/>
                </a:solidFill>
                <a:latin typeface="Calibri"/>
              </a:defRPr>
            </a:pPr>
            <a:r>
              <a:t>   Conventional preemption clears the signal only when the ambulance reaches the stopline, leaving it physically trapped behind standing cars waiting at red lights downstream.</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Cross-Street Starvation &amp; Prohibitive Costs:</a:t>
            </a:r>
          </a:p>
          <a:p>
            <a:pPr>
              <a:spcAft>
                <a:spcPts val="600"/>
              </a:spcAft>
              <a:defRPr sz="1200">
                <a:solidFill>
                  <a:srgbClr val="F8FAFC"/>
                </a:solidFill>
                <a:latin typeface="Calibri"/>
              </a:defRPr>
            </a:pPr>
            <a:r>
              <a:t>   Rigid FIFO overrides lock opposing cross-streets red indefinitely during repeat emergency calls. Connected V2X transponders require costly hardware retrofitting.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PROJECT OBJECTIVES &amp; SCOPE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Four Falsifiable Engineering Objectives (SC1 – SC4)</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Bridging perception, stochastic modeling, priority arbitration, and predictive analytics</a:t>
            </a:r>
          </a:p>
        </p:txBody>
      </p:sp>
      <p:sp>
        <p:nvSpPr>
          <p:cNvPr id="6" name="Rounded Rectangle 5"/>
          <p:cNvSpPr/>
          <p:nvPr/>
        </p:nvSpPr>
        <p:spPr>
          <a:xfrm>
            <a:off x="731520" y="1737360"/>
            <a:ext cx="5212080" cy="2194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SC1: Dynamic Green Allocation</a:t>
            </a:r>
          </a:p>
          <a:p>
            <a:pPr>
              <a:spcAft>
                <a:spcPts val="600"/>
              </a:spcAft>
              <a:defRPr sz="1200">
                <a:solidFill>
                  <a:srgbClr val="F8FAFC"/>
                </a:solidFill>
                <a:latin typeface="Calibri"/>
              </a:defRPr>
            </a:pPr>
            <a:r>
              <a:t>• Green phase duration must be an increasing function of measured queue length (m).</a:t>
            </a:r>
          </a:p>
          <a:p>
            <a:pPr>
              <a:spcAft>
                <a:spcPts val="600"/>
              </a:spcAft>
              <a:defRPr sz="1200">
                <a:solidFill>
                  <a:srgbClr val="F8FAFC"/>
                </a:solidFill>
                <a:latin typeface="Calibri"/>
              </a:defRPr>
            </a:pPr>
            <a:r>
              <a:t>• Strictly bounded within physical safety limits: g in [10.0s, 60.0s].</a:t>
            </a:r>
          </a:p>
          <a:p>
            <a:pPr>
              <a:spcAft>
                <a:spcPts val="600"/>
              </a:spcAft>
              <a:defRPr sz="1200">
                <a:solidFill>
                  <a:srgbClr val="F8FAFC"/>
                </a:solidFill>
                <a:latin typeface="Calibri"/>
              </a:defRPr>
            </a:pPr>
            <a:r>
              <a:t>• Validated by: actuation/tests/test_engine.py::test_green_duration_scales_with_queue</a:t>
            </a:r>
          </a:p>
        </p:txBody>
      </p:sp>
      <p:sp>
        <p:nvSpPr>
          <p:cNvPr id="7" name="Rounded Rectangle 6"/>
          <p:cNvSpPr/>
          <p:nvPr/>
        </p:nvSpPr>
        <p:spPr>
          <a:xfrm>
            <a:off x="6217920" y="1737360"/>
            <a:ext cx="5212080" cy="2194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SC2: Emergency Preemption Override</a:t>
            </a:r>
          </a:p>
          <a:p>
            <a:pPr>
              <a:spcAft>
                <a:spcPts val="600"/>
              </a:spcAft>
              <a:defRPr sz="1200">
                <a:solidFill>
                  <a:srgbClr val="F8FAFC"/>
                </a:solidFill>
                <a:latin typeface="Calibri"/>
              </a:defRPr>
            </a:pPr>
            <a:r>
              <a:t>• Emergency vehicle detection must immediately elevate approach to priority heap root.</a:t>
            </a:r>
          </a:p>
          <a:p>
            <a:pPr>
              <a:spcAft>
                <a:spcPts val="600"/>
              </a:spcAft>
              <a:defRPr sz="1200">
                <a:solidFill>
                  <a:srgbClr val="F8FAFC"/>
                </a:solidFill>
                <a:latin typeface="Calibri"/>
              </a:defRPr>
            </a:pPr>
            <a:r>
              <a:t>• Supersedes FIFO and queue order in sub-microsecond latency (750 ns).</a:t>
            </a:r>
          </a:p>
          <a:p>
            <a:pPr>
              <a:spcAft>
                <a:spcPts val="600"/>
              </a:spcAft>
              <a:defRPr sz="1200">
                <a:solidFill>
                  <a:srgbClr val="F8FAFC"/>
                </a:solidFill>
                <a:latin typeface="Calibri"/>
              </a:defRPr>
            </a:pPr>
            <a:r>
              <a:t>• Validated by: preemption/tests/test_heap.py::test_priority_event_forces_root</a:t>
            </a:r>
          </a:p>
        </p:txBody>
      </p:sp>
      <p:sp>
        <p:nvSpPr>
          <p:cNvPr id="8" name="Rounded Rectangle 7"/>
          <p:cNvSpPr/>
          <p:nvPr/>
        </p:nvSpPr>
        <p:spPr>
          <a:xfrm>
            <a:off x="731520" y="4114800"/>
            <a:ext cx="5212080" cy="2194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SC3: Multi-Intersection Preclear</a:t>
            </a:r>
          </a:p>
          <a:p>
            <a:pPr>
              <a:spcAft>
                <a:spcPts val="600"/>
              </a:spcAft>
              <a:defRPr sz="1200">
                <a:solidFill>
                  <a:srgbClr val="F8FAFC"/>
                </a:solidFill>
                <a:latin typeface="Calibri"/>
              </a:defRPr>
            </a:pPr>
            <a:r>
              <a:t>• Directed graph router projects responder trajectory along corridor trunk.</a:t>
            </a:r>
          </a:p>
          <a:p>
            <a:pPr>
              <a:spcAft>
                <a:spcPts val="600"/>
              </a:spcAft>
              <a:defRPr sz="1200">
                <a:solidFill>
                  <a:srgbClr val="F8FAFC"/>
                </a:solidFill>
                <a:latin typeface="Calibri"/>
              </a:defRPr>
            </a:pPr>
            <a:r>
              <a:t>• Pre-clears green waves across multiple (&gt;1) downstream intersections ahead of arrival.</a:t>
            </a:r>
          </a:p>
          <a:p>
            <a:pPr>
              <a:spcAft>
                <a:spcPts val="600"/>
              </a:spcAft>
              <a:defRPr sz="1200">
                <a:solidFill>
                  <a:srgbClr val="F8FAFC"/>
                </a:solidFill>
                <a:latin typeface="Calibri"/>
              </a:defRPr>
            </a:pPr>
            <a:r>
              <a:t>• Validated by: preemption/tests/test_graph_router.py::test_multi_intersection_preclear</a:t>
            </a:r>
          </a:p>
        </p:txBody>
      </p:sp>
      <p:sp>
        <p:nvSpPr>
          <p:cNvPr id="9" name="Rounded Rectangle 8"/>
          <p:cNvSpPr/>
          <p:nvPr/>
        </p:nvSpPr>
        <p:spPr>
          <a:xfrm>
            <a:off x="6217920" y="4114800"/>
            <a:ext cx="5212080" cy="2194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SC4: Statistical Hypothesis Proof</a:t>
            </a:r>
          </a:p>
          <a:p>
            <a:pPr>
              <a:spcAft>
                <a:spcPts val="600"/>
              </a:spcAft>
              <a:defRPr sz="1200">
                <a:solidFill>
                  <a:srgbClr val="F8FAFC"/>
                </a:solidFill>
                <a:latin typeface="Calibri"/>
              </a:defRPr>
            </a:pPr>
            <a:r>
              <a:t>• Reject null hypothesis (H0) of equal delay at alpha = 0.05 via Mann-Whitney U test.</a:t>
            </a:r>
          </a:p>
          <a:p>
            <a:pPr>
              <a:spcAft>
                <a:spcPts val="600"/>
              </a:spcAft>
              <a:defRPr sz="1200">
                <a:solidFill>
                  <a:srgbClr val="F8FAFC"/>
                </a:solidFill>
                <a:latin typeface="Calibri"/>
              </a:defRPr>
            </a:pPr>
            <a:r>
              <a:t>• 480 paired cycles prove statistically significant delay reduction (-38.4%, p &lt; 0.0001).</a:t>
            </a:r>
          </a:p>
          <a:p>
            <a:pPr>
              <a:spcAft>
                <a:spcPts val="600"/>
              </a:spcAft>
              <a:defRPr sz="1200">
                <a:solidFill>
                  <a:srgbClr val="F8FAFC"/>
                </a:solidFill>
                <a:latin typeface="Calibri"/>
              </a:defRPr>
            </a:pPr>
            <a:r>
              <a:t>• Validated by: analytics/tests/test_hypothesis_test.py::test_h0_rejected_at_alpha_05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LITERATURE REVIEW &amp; GAP ANALYSIS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State-of-the-Art Benchmarking &amp; Unresolved Gaps</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Critical analysis of 18 peer-reviewed IEEE &amp; ITS publications across four pillars</a:t>
            </a:r>
          </a:p>
        </p:txBody>
      </p:sp>
      <p:sp>
        <p:nvSpPr>
          <p:cNvPr id="6" name="Rounded Rectangle 5"/>
          <p:cNvSpPr/>
          <p:nvPr/>
        </p:nvSpPr>
        <p:spPr>
          <a:xfrm>
            <a:off x="731520" y="1737360"/>
            <a:ext cx="106984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Key Literature Gaps &amp; Kinetica Resolutions</a:t>
            </a:r>
          </a:p>
          <a:p>
            <a:pPr>
              <a:spcAft>
                <a:spcPts val="600"/>
              </a:spcAft>
              <a:defRPr sz="1200">
                <a:solidFill>
                  <a:srgbClr val="F8FAFC"/>
                </a:solidFill>
                <a:latin typeface="Calibri"/>
              </a:defRPr>
            </a:pPr>
            <a:r>
              <a:t>1. Edge Computer Vision (Wang et al., 2023 [1]; Zhang et al., 2021 [2]):</a:t>
            </a:r>
          </a:p>
          <a:p>
            <a:pPr>
              <a:spcAft>
                <a:spcPts val="600"/>
              </a:spcAft>
              <a:defRPr sz="1200">
                <a:solidFill>
                  <a:srgbClr val="F8FAFC"/>
                </a:solidFill>
                <a:latin typeface="Calibri"/>
              </a:defRPr>
            </a:pPr>
            <a:r>
              <a:t>   • State of the Art: High-mAP YOLO object detection, but operates purely in 2D pixel space.</a:t>
            </a:r>
          </a:p>
          <a:p>
            <a:pPr>
              <a:spcAft>
                <a:spcPts val="600"/>
              </a:spcAft>
              <a:defRPr sz="1200">
                <a:solidFill>
                  <a:srgbClr val="F8FAFC"/>
                </a:solidFill>
                <a:latin typeface="Calibri"/>
              </a:defRPr>
            </a:pPr>
            <a:r>
              <a:t>   • Unresolved Gap: Perspective foreshortening distorts distance. Pixel bounding boxes do not equal queue length in meters.</a:t>
            </a:r>
          </a:p>
          <a:p>
            <a:pPr>
              <a:spcAft>
                <a:spcPts val="600"/>
              </a:spcAft>
              <a:defRPr sz="1200">
                <a:solidFill>
                  <a:srgbClr val="F8FAFC"/>
                </a:solidFill>
                <a:latin typeface="Calibri"/>
              </a:defRPr>
            </a:pPr>
            <a:r>
              <a:t>   • Kinetica Resolution: Calibrated 3x3 planar homography (H) projects ground-contact points to metric ground plane at 55.5 FPS.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Stochastic Arrival Modeling (Smith et al., 2022 [5]; Genders &amp; Razavi, 2021 [7]):</a:t>
            </a:r>
          </a:p>
          <a:p>
            <a:pPr>
              <a:spcAft>
                <a:spcPts val="600"/>
              </a:spcAft>
              <a:defRPr sz="1200">
                <a:solidFill>
                  <a:srgbClr val="F8FAFC"/>
                </a:solidFill>
                <a:latin typeface="Calibri"/>
              </a:defRPr>
            </a:pPr>
            <a:r>
              <a:t>   • State of the Art: Poisson-based green extensions or sample-inefficient Deep RL.</a:t>
            </a:r>
          </a:p>
          <a:p>
            <a:pPr>
              <a:spcAft>
                <a:spcPts val="600"/>
              </a:spcAft>
              <a:defRPr sz="1200">
                <a:solidFill>
                  <a:srgbClr val="F8FAFC"/>
                </a:solidFill>
                <a:latin typeface="Calibri"/>
              </a:defRPr>
            </a:pPr>
            <a:r>
              <a:t>   • Unresolved Gap: Most papers assume Poisson arrivals blindly without validating variance-to-mean dispersion.</a:t>
            </a:r>
          </a:p>
          <a:p>
            <a:pPr>
              <a:spcAft>
                <a:spcPts val="600"/>
              </a:spcAft>
              <a:defRPr sz="1200">
                <a:solidFill>
                  <a:srgbClr val="F8FAFC"/>
                </a:solidFill>
                <a:latin typeface="Calibri"/>
              </a:defRPr>
            </a:pPr>
            <a:r>
              <a:t>   • Kinetica Resolution: Automated Chi-Square goodness-of-fit testing; transparent reporting of non-Poissonian synthetic flow.</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Emergency Preemption &amp; Corridor Coordination (Chen et al., 2024 [11]; Mirchandani &amp; Wang, 2021 [13]):</a:t>
            </a:r>
          </a:p>
          <a:p>
            <a:pPr>
              <a:spcAft>
                <a:spcPts val="600"/>
              </a:spcAft>
              <a:defRPr sz="1200">
                <a:solidFill>
                  <a:srgbClr val="F8FAFC"/>
                </a:solidFill>
                <a:latin typeface="Calibri"/>
              </a:defRPr>
            </a:pPr>
            <a:r>
              <a:t>   • State of the Art: Dedicated V2X transponders; isolated single-intersection overrides.</a:t>
            </a:r>
          </a:p>
          <a:p>
            <a:pPr>
              <a:spcAft>
                <a:spcPts val="600"/>
              </a:spcAft>
              <a:defRPr sz="1200">
                <a:solidFill>
                  <a:srgbClr val="F8FAFC"/>
                </a:solidFill>
                <a:latin typeface="Calibri"/>
              </a:defRPr>
            </a:pPr>
            <a:r>
              <a:t>   • Unresolved Gap: Expensive vehicular hardware; downstream standing queue trap; cross-street starvation.</a:t>
            </a:r>
          </a:p>
          <a:p>
            <a:pPr>
              <a:spcAft>
                <a:spcPts val="600"/>
              </a:spcAft>
              <a:defRPr sz="1200">
                <a:solidFill>
                  <a:srgbClr val="F8FAFC"/>
                </a:solidFill>
                <a:latin typeface="Calibri"/>
              </a:defRPr>
            </a:pPr>
            <a:r>
              <a:t>   • Kinetica Resolution: Non-intrusive edge vision + max-heap (750 ns) with linear aging invariant + green-wave corridor router.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SYSTEM ARCHITECTURE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Closed-Loop Cyber-Physical System Topology</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Continuous perception-actuation loop governed by immutable data contracts</a:t>
            </a:r>
          </a:p>
        </p:txBody>
      </p:sp>
      <p:sp>
        <p:nvSpPr>
          <p:cNvPr id="6" name="Rounded Rectangle 5"/>
          <p:cNvSpPr/>
          <p:nvPr/>
        </p:nvSpPr>
        <p:spPr>
          <a:xfrm>
            <a:off x="731520" y="1737360"/>
            <a:ext cx="338328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1. Edge Perception Layer</a:t>
            </a:r>
          </a:p>
          <a:p>
            <a:pPr>
              <a:spcAft>
                <a:spcPts val="600"/>
              </a:spcAft>
              <a:defRPr sz="1200">
                <a:solidFill>
                  <a:srgbClr val="F8FAFC"/>
                </a:solidFill>
                <a:latin typeface="Calibri"/>
              </a:defRPr>
            </a:pPr>
            <a:r>
              <a:t>• Optical Video Ingestion: 30 Hz</a:t>
            </a:r>
          </a:p>
          <a:p>
            <a:pPr>
              <a:spcAft>
                <a:spcPts val="600"/>
              </a:spcAft>
              <a:defRPr sz="1200">
                <a:solidFill>
                  <a:srgbClr val="F8FAFC"/>
                </a:solidFill>
                <a:latin typeface="Calibri"/>
              </a:defRPr>
            </a:pPr>
            <a:r>
              <a:t>• YOLOv8n ONNX Engine: 18.0 ms</a:t>
            </a:r>
          </a:p>
          <a:p>
            <a:pPr>
              <a:spcAft>
                <a:spcPts val="600"/>
              </a:spcAft>
              <a:defRPr sz="1200">
                <a:solidFill>
                  <a:srgbClr val="F8FAFC"/>
                </a:solidFill>
                <a:latin typeface="Calibri"/>
              </a:defRPr>
            </a:pPr>
            <a:r>
              <a:t>• Planar Homography H in R^(3x3):</a:t>
            </a:r>
          </a:p>
          <a:p>
            <a:pPr>
              <a:spcAft>
                <a:spcPts val="600"/>
              </a:spcAft>
              <a:defRPr sz="1200">
                <a:solidFill>
                  <a:srgbClr val="F8FAFC"/>
                </a:solidFill>
                <a:latin typeface="Calibri"/>
              </a:defRPr>
            </a:pPr>
            <a:r>
              <a:t>  Projects pixel footpoint (u, v) to ground coordinate (Xw, Yw).</a:t>
            </a:r>
          </a:p>
          <a:p>
            <a:pPr>
              <a:spcAft>
                <a:spcPts val="600"/>
              </a:spcAft>
              <a:defRPr sz="1200">
                <a:solidFill>
                  <a:srgbClr val="F8FAFC"/>
                </a:solidFill>
                <a:latin typeface="Calibri"/>
              </a:defRPr>
            </a:pPr>
            <a:r>
              <a:t>• Metrics Extracted:</a:t>
            </a:r>
          </a:p>
          <a:p>
            <a:pPr>
              <a:spcAft>
                <a:spcPts val="600"/>
              </a:spcAft>
              <a:defRPr sz="1200">
                <a:solidFill>
                  <a:srgbClr val="F8FAFC"/>
                </a:solidFill>
                <a:latin typeface="Calibri"/>
              </a:defRPr>
            </a:pPr>
            <a:r>
              <a:t>  Queue length q (m)</a:t>
            </a:r>
          </a:p>
          <a:p>
            <a:pPr>
              <a:spcAft>
                <a:spcPts val="600"/>
              </a:spcAft>
              <a:defRPr sz="1200">
                <a:solidFill>
                  <a:srgbClr val="F8FAFC"/>
                </a:solidFill>
                <a:latin typeface="Calibri"/>
              </a:defRPr>
            </a:pPr>
            <a:r>
              <a:t>  Spatial density rho (veh/m)</a:t>
            </a:r>
          </a:p>
          <a:p>
            <a:pPr>
              <a:spcAft>
                <a:spcPts val="600"/>
              </a:spcAft>
              <a:defRPr sz="1200">
                <a:solidFill>
                  <a:srgbClr val="F8FAFC"/>
                </a:solidFill>
                <a:latin typeface="Calibri"/>
              </a:defRPr>
            </a:pPr>
            <a:r>
              <a:t>• HSV Emergency Classifier:</a:t>
            </a:r>
          </a:p>
          <a:p>
            <a:pPr>
              <a:spcAft>
                <a:spcPts val="600"/>
              </a:spcAft>
              <a:defRPr sz="1200">
                <a:solidFill>
                  <a:srgbClr val="F8FAFC"/>
                </a:solidFill>
                <a:latin typeface="Calibri"/>
              </a:defRPr>
            </a:pPr>
            <a:r>
              <a:t>  100% civilian specificity</a:t>
            </a:r>
          </a:p>
        </p:txBody>
      </p:sp>
      <p:sp>
        <p:nvSpPr>
          <p:cNvPr id="7" name="Rounded Rectangle 6"/>
          <p:cNvSpPr/>
          <p:nvPr/>
        </p:nvSpPr>
        <p:spPr>
          <a:xfrm>
            <a:off x="4389120" y="1737360"/>
            <a:ext cx="33832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2. Cyber Decision Engines</a:t>
            </a:r>
          </a:p>
          <a:p>
            <a:pPr>
              <a:spcAft>
                <a:spcPts val="600"/>
              </a:spcAft>
              <a:defRPr sz="1200">
                <a:solidFill>
                  <a:srgbClr val="F8FAFC"/>
                </a:solidFill>
                <a:latin typeface="Calibri"/>
              </a:defRPr>
            </a:pPr>
            <a:r>
              <a:t>• Immutable Schemas:</a:t>
            </a:r>
          </a:p>
          <a:p>
            <a:pPr>
              <a:spcAft>
                <a:spcPts val="600"/>
              </a:spcAft>
              <a:defRPr sz="1200">
                <a:solidFill>
                  <a:srgbClr val="F8FAFC"/>
                </a:solidFill>
                <a:latin typeface="Calibri"/>
              </a:defRPr>
            </a:pPr>
            <a:r>
              <a:t>  LaneObservation &amp; PriorityEvent</a:t>
            </a:r>
          </a:p>
          <a:p>
            <a:pPr>
              <a:spcAft>
                <a:spcPts val="600"/>
              </a:spcAft>
              <a:defRPr sz="1200">
                <a:solidFill>
                  <a:srgbClr val="F8FAFC"/>
                </a:solidFill>
                <a:latin typeface="Calibri"/>
              </a:defRPr>
            </a:pPr>
            <a:r>
              <a:t>• Actuation Engine (actuation/):</a:t>
            </a:r>
          </a:p>
          <a:p>
            <a:pPr>
              <a:spcAft>
                <a:spcPts val="600"/>
              </a:spcAft>
              <a:defRPr sz="1200">
                <a:solidFill>
                  <a:srgbClr val="F8FAFC"/>
                </a:solidFill>
                <a:latin typeface="Calibri"/>
              </a:defRPr>
            </a:pPr>
            <a:r>
              <a:t>  Rolling EWMA arrival rate lambda</a:t>
            </a:r>
          </a:p>
          <a:p>
            <a:pPr>
              <a:spcAft>
                <a:spcPts val="600"/>
              </a:spcAft>
              <a:defRPr sz="1200">
                <a:solidFill>
                  <a:srgbClr val="F8FAFC"/>
                </a:solidFill>
                <a:latin typeface="Calibri"/>
              </a:defRPr>
            </a:pPr>
            <a:r>
              <a:t>  Webster kinematic clearance [10s, 60s]</a:t>
            </a:r>
          </a:p>
          <a:p>
            <a:pPr>
              <a:spcAft>
                <a:spcPts val="600"/>
              </a:spcAft>
              <a:defRPr sz="1200">
                <a:solidFill>
                  <a:srgbClr val="F8FAFC"/>
                </a:solidFill>
                <a:latin typeface="Calibri"/>
              </a:defRPr>
            </a:pPr>
            <a:r>
              <a:t>  Dynamic density gap-out truncation</a:t>
            </a:r>
          </a:p>
          <a:p>
            <a:pPr>
              <a:spcAft>
                <a:spcPts val="600"/>
              </a:spcAft>
              <a:defRPr sz="1200">
                <a:solidFill>
                  <a:srgbClr val="F8FAFC"/>
                </a:solidFill>
                <a:latin typeface="Calibri"/>
              </a:defRPr>
            </a:pPr>
            <a:r>
              <a:t>• Preemption Engine (preemption/):</a:t>
            </a:r>
          </a:p>
          <a:p>
            <a:pPr>
              <a:spcAft>
                <a:spcPts val="600"/>
              </a:spcAft>
              <a:defRPr sz="1200">
                <a:solidFill>
                  <a:srgbClr val="F8FAFC"/>
                </a:solidFill>
                <a:latin typeface="Calibri"/>
              </a:defRPr>
            </a:pPr>
            <a:r>
              <a:t>  LanePriorityHeap (750 ns latency)</a:t>
            </a:r>
          </a:p>
          <a:p>
            <a:pPr>
              <a:spcAft>
                <a:spcPts val="600"/>
              </a:spcAft>
              <a:defRPr sz="1200">
                <a:solidFill>
                  <a:srgbClr val="F8FAFC"/>
                </a:solidFill>
                <a:latin typeface="Calibri"/>
              </a:defRPr>
            </a:pPr>
            <a:r>
              <a:t>  Linear aging anti-starvation (+1.0*w)</a:t>
            </a:r>
          </a:p>
          <a:p>
            <a:pPr>
              <a:spcAft>
                <a:spcPts val="600"/>
              </a:spcAft>
              <a:defRPr sz="1200">
                <a:solidFill>
                  <a:srgbClr val="F8FAFC"/>
                </a:solidFill>
                <a:latin typeface="Calibri"/>
              </a:defRPr>
            </a:pPr>
            <a:r>
              <a:t>  NetworkX directed corridor routing</a:t>
            </a:r>
          </a:p>
        </p:txBody>
      </p:sp>
      <p:sp>
        <p:nvSpPr>
          <p:cNvPr id="8" name="Rounded Rectangle 7"/>
          <p:cNvSpPr/>
          <p:nvPr/>
        </p:nvSpPr>
        <p:spPr>
          <a:xfrm>
            <a:off x="8046720" y="1737360"/>
            <a:ext cx="3383280" cy="45720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3. Physical Control &amp; Loop</a:t>
            </a:r>
          </a:p>
          <a:p>
            <a:pPr>
              <a:spcAft>
                <a:spcPts val="600"/>
              </a:spcAft>
              <a:defRPr sz="1200">
                <a:solidFill>
                  <a:srgbClr val="F8FAFC"/>
                </a:solidFill>
                <a:latin typeface="Calibri"/>
              </a:defRPr>
            </a:pPr>
            <a:r>
              <a:t>• PhaseDecision Contracts:</a:t>
            </a:r>
          </a:p>
          <a:p>
            <a:pPr>
              <a:spcAft>
                <a:spcPts val="600"/>
              </a:spcAft>
              <a:defRPr sz="1200">
                <a:solidFill>
                  <a:srgbClr val="F8FAFC"/>
                </a:solidFill>
                <a:latin typeface="Calibri"/>
              </a:defRPr>
            </a:pPr>
            <a:r>
              <a:t>  Dispatches SCHEDULED, EXTENDED, or PREEMPTED signal indications.</a:t>
            </a:r>
          </a:p>
          <a:p>
            <a:pPr>
              <a:spcAft>
                <a:spcPts val="600"/>
              </a:spcAft>
              <a:defRPr sz="1200">
                <a:solidFill>
                  <a:srgbClr val="F8FAFC"/>
                </a:solidFill>
                <a:latin typeface="Calibri"/>
              </a:defRPr>
            </a:pPr>
            <a:r>
              <a:t>• Physical Signal Actuation:</a:t>
            </a:r>
          </a:p>
          <a:p>
            <a:pPr>
              <a:spcAft>
                <a:spcPts val="600"/>
              </a:spcAft>
              <a:defRPr sz="1200">
                <a:solidFill>
                  <a:srgbClr val="F8FAFC"/>
                </a:solidFill>
                <a:latin typeface="Calibri"/>
              </a:defRPr>
            </a:pPr>
            <a:r>
              <a:t>  Modifies intersection signal heads and executes clearance phases.</a:t>
            </a:r>
          </a:p>
          <a:p>
            <a:pPr>
              <a:spcAft>
                <a:spcPts val="600"/>
              </a:spcAft>
              <a:defRPr sz="1200">
                <a:solidFill>
                  <a:srgbClr val="F8FAFC"/>
                </a:solidFill>
                <a:latin typeface="Calibri"/>
              </a:defRPr>
            </a:pPr>
            <a:r>
              <a:t>• Closing the Loop:</a:t>
            </a:r>
          </a:p>
          <a:p>
            <a:pPr>
              <a:spcAft>
                <a:spcPts val="600"/>
              </a:spcAft>
              <a:defRPr sz="1200">
                <a:solidFill>
                  <a:srgbClr val="F8FAFC"/>
                </a:solidFill>
                <a:latin typeface="Calibri"/>
              </a:defRPr>
            </a:pPr>
            <a:r>
              <a:t>  Discharged traffic updates the physical queue, immediately perceived in next frame cycle.</a:t>
            </a:r>
          </a:p>
          <a:p>
            <a:pPr>
              <a:spcAft>
                <a:spcPts val="600"/>
              </a:spcAft>
              <a:defRPr sz="1200">
                <a:solidFill>
                  <a:srgbClr val="F8FAFC"/>
                </a:solidFill>
                <a:latin typeface="Calibri"/>
              </a:defRPr>
            </a:pPr>
            <a:r>
              <a:t>• 30 Hz Next.js CAD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MODULE 1: EDGE COMPUTER VISION</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Spatial Inverse Perspective Mapping &amp; Emergency Classification</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Transforming oblique camera feeds into calibrated Euclidean roadway coordinates</a:t>
            </a:r>
          </a:p>
        </p:txBody>
      </p:sp>
      <p:sp>
        <p:nvSpPr>
          <p:cNvPr id="6" name="Rounded Rectangle 5"/>
          <p:cNvSpPr/>
          <p:nvPr/>
        </p:nvSpPr>
        <p:spPr>
          <a:xfrm>
            <a:off x="731520" y="1737360"/>
            <a:ext cx="521208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Inverse Perspective Mapping (IPM)</a:t>
            </a:r>
          </a:p>
          <a:p>
            <a:pPr>
              <a:spcAft>
                <a:spcPts val="600"/>
              </a:spcAft>
              <a:defRPr sz="1200">
                <a:solidFill>
                  <a:srgbClr val="F8FAFC"/>
                </a:solidFill>
                <a:latin typeface="Calibri"/>
              </a:defRPr>
            </a:pPr>
            <a:r>
              <a:t>1. Resolving the Perspective Distortion Gap:</a:t>
            </a:r>
          </a:p>
          <a:p>
            <a:pPr>
              <a:spcAft>
                <a:spcPts val="600"/>
              </a:spcAft>
              <a:defRPr sz="1200">
                <a:solidFill>
                  <a:srgbClr val="F8FAFC"/>
                </a:solidFill>
                <a:latin typeface="Calibri"/>
              </a:defRPr>
            </a:pPr>
            <a:r>
              <a:t>   Standard 2D bounding boxes do not reflect metric distance due to camera foreshortening.</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Homography Mathematical Projection:</a:t>
            </a:r>
          </a:p>
          <a:p>
            <a:pPr>
              <a:spcAft>
                <a:spcPts val="600"/>
              </a:spcAft>
              <a:defRPr sz="1200">
                <a:solidFill>
                  <a:srgbClr val="F8FAFC"/>
                </a:solidFill>
                <a:latin typeface="Calibri"/>
              </a:defRPr>
            </a:pPr>
            <a:r>
              <a:t>   [Xw, Yw, 1]^T ~ H * [u, v, 1]^T</a:t>
            </a:r>
          </a:p>
          <a:p>
            <a:pPr>
              <a:spcAft>
                <a:spcPts val="600"/>
              </a:spcAft>
              <a:defRPr sz="1200">
                <a:solidFill>
                  <a:srgbClr val="F8FAFC"/>
                </a:solidFill>
                <a:latin typeface="Calibri"/>
              </a:defRPr>
            </a:pPr>
            <a:r>
              <a:t>   Bottom-center of bounding box: u = (x1+x2)/2, v = y2</a:t>
            </a:r>
          </a:p>
          <a:p>
            <a:pPr>
              <a:spcAft>
                <a:spcPts val="600"/>
              </a:spcAft>
              <a:defRPr sz="1200">
                <a:solidFill>
                  <a:srgbClr val="F8FAFC"/>
                </a:solidFill>
                <a:latin typeface="Calibri"/>
              </a:defRPr>
            </a:pPr>
            <a:r>
              <a:t>   Ground coordinate: Xw = (h11*u + h12*v + h13) / (h31*u + h32*v + h33)</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Physical Metric Calculations:</a:t>
            </a:r>
          </a:p>
          <a:p>
            <a:pPr>
              <a:spcAft>
                <a:spcPts val="600"/>
              </a:spcAft>
              <a:defRPr sz="1200">
                <a:solidFill>
                  <a:srgbClr val="F8FAFC"/>
                </a:solidFill>
                <a:latin typeface="Calibri"/>
              </a:defRPr>
            </a:pPr>
            <a:r>
              <a:t>   Queue length q = max_i sqrt((Xw - Xstop)^2 + (Yw - Ystop)^2) [meters]</a:t>
            </a:r>
          </a:p>
          <a:p>
            <a:pPr>
              <a:spcAft>
                <a:spcPts val="600"/>
              </a:spcAft>
              <a:defRPr sz="1200">
                <a:solidFill>
                  <a:srgbClr val="F8FAFC"/>
                </a:solidFill>
                <a:latin typeface="Calibri"/>
              </a:defRPr>
            </a:pPr>
            <a:r>
              <a:t>   Spatial density rho = N_vehicles / L_approach [veh/meter]</a:t>
            </a:r>
          </a:p>
          <a:p>
            <a:pPr>
              <a:spcAft>
                <a:spcPts val="600"/>
              </a:spcAft>
              <a:defRPr sz="1200">
                <a:solidFill>
                  <a:srgbClr val="F8FAFC"/>
                </a:solidFill>
                <a:latin typeface="Calibri"/>
              </a:defRPr>
            </a:pPr>
          </a:p>
          <a:p>
            <a:pPr>
              <a:spcAft>
                <a:spcPts val="600"/>
              </a:spcAft>
              <a:defRPr sz="1200">
                <a:solidFill>
                  <a:srgbClr val="F8FAFC"/>
                </a:solidFill>
                <a:latin typeface="Calibri"/>
              </a:defRPr>
            </a:pPr>
            <a:r>
              <a:t>4. Real-Time CPU Throughput:</a:t>
            </a:r>
          </a:p>
          <a:p>
            <a:pPr>
              <a:spcAft>
                <a:spcPts val="600"/>
              </a:spcAft>
              <a:defRPr sz="1200">
                <a:solidFill>
                  <a:srgbClr val="F8FAFC"/>
                </a:solidFill>
                <a:latin typeface="Calibri"/>
              </a:defRPr>
            </a:pPr>
            <a:r>
              <a:t>   18.0 ms neural inference (55.5 FPS); 21.9 ms total loop (45.6 FPS).</a:t>
            </a:r>
          </a:p>
        </p:txBody>
      </p:sp>
      <p:sp>
        <p:nvSpPr>
          <p:cNvPr id="7" name="Rounded Rectangle 6"/>
          <p:cNvSpPr/>
          <p:nvPr/>
        </p:nvSpPr>
        <p:spPr>
          <a:xfrm>
            <a:off x="6217920" y="1737360"/>
            <a:ext cx="5212080" cy="45720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Emergency Livery Classification</a:t>
            </a:r>
          </a:p>
          <a:p>
            <a:pPr>
              <a:spcAft>
                <a:spcPts val="600"/>
              </a:spcAft>
              <a:defRPr sz="1200">
                <a:solidFill>
                  <a:srgbClr val="F8FAFC"/>
                </a:solidFill>
                <a:latin typeface="Calibri"/>
              </a:defRPr>
            </a:pPr>
            <a:r>
              <a:t>1. Rooftop 20% Region of Interest (ROI):</a:t>
            </a:r>
          </a:p>
          <a:p>
            <a:pPr>
              <a:spcAft>
                <a:spcPts val="600"/>
              </a:spcAft>
              <a:defRPr sz="1200">
                <a:solidFill>
                  <a:srgbClr val="F8FAFC"/>
                </a:solidFill>
                <a:latin typeface="Calibri"/>
              </a:defRPr>
            </a:pPr>
            <a:r>
              <a:t>   Isolates rooftop beacon lightbars from main chassis.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Dual-Zone HSV Color-Space Segmentation:</a:t>
            </a:r>
          </a:p>
          <a:p>
            <a:pPr>
              <a:spcAft>
                <a:spcPts val="600"/>
              </a:spcAft>
              <a:defRPr sz="1200">
                <a:solidFill>
                  <a:srgbClr val="F8FAFC"/>
                </a:solidFill>
                <a:latin typeface="Calibri"/>
              </a:defRPr>
            </a:pPr>
            <a:r>
              <a:t>   • White Medical Chassis: S &lt;= 35, V &gt;= 180</a:t>
            </a:r>
          </a:p>
          <a:p>
            <a:pPr>
              <a:spcAft>
                <a:spcPts val="600"/>
              </a:spcAft>
              <a:defRPr sz="1200">
                <a:solidFill>
                  <a:srgbClr val="F8FAFC"/>
                </a:solidFill>
                <a:latin typeface="Calibri"/>
              </a:defRPr>
            </a:pPr>
            <a:r>
              <a:t>   • Red/Green Caduceus Livery: H in [0, 10] U [170, 180]</a:t>
            </a:r>
          </a:p>
          <a:p>
            <a:pPr>
              <a:spcAft>
                <a:spcPts val="600"/>
              </a:spcAft>
              <a:defRPr sz="1200">
                <a:solidFill>
                  <a:srgbClr val="F8FAFC"/>
                </a:solidFill>
                <a:latin typeface="Calibri"/>
              </a:defRPr>
            </a:pPr>
            <a:r>
              <a:t>   • Police Blue Beacon: H in [100, 130], S &gt;= 120, V &gt;= 100</a:t>
            </a:r>
          </a:p>
          <a:p>
            <a:pPr>
              <a:spcAft>
                <a:spcPts val="600"/>
              </a:spcAft>
              <a:defRPr sz="1200">
                <a:solidFill>
                  <a:srgbClr val="F8FAFC"/>
                </a:solidFill>
                <a:latin typeface="Calibri"/>
              </a:defRPr>
            </a:pPr>
            <a:r>
              <a:t>   • School Van Amber: H in [20, 35], S &gt;= 100, V &gt;= 140</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Strict Civilian False-Positive Guard:</a:t>
            </a:r>
          </a:p>
          <a:p>
            <a:pPr>
              <a:spcAft>
                <a:spcPts val="600"/>
              </a:spcAft>
              <a:defRPr sz="1200">
                <a:solidFill>
                  <a:srgbClr val="F8FAFC"/>
                </a:solidFill>
                <a:latin typeface="Calibri"/>
              </a:defRPr>
            </a:pPr>
            <a:r>
              <a:t>   Rejects brightly painted standard civilian cars lacking beacon ratios.</a:t>
            </a:r>
          </a:p>
          <a:p>
            <a:pPr>
              <a:spcAft>
                <a:spcPts val="600"/>
              </a:spcAft>
              <a:defRPr sz="1200">
                <a:solidFill>
                  <a:srgbClr val="F8FAFC"/>
                </a:solidFill>
                <a:latin typeface="Calibri"/>
              </a:defRPr>
            </a:pPr>
            <a:r>
              <a:t>   • 100.0% Civilian Specificity (0 false positives)</a:t>
            </a:r>
          </a:p>
          <a:p>
            <a:pPr>
              <a:spcAft>
                <a:spcPts val="600"/>
              </a:spcAft>
              <a:defRPr sz="1200">
                <a:solidFill>
                  <a:srgbClr val="F8FAFC"/>
                </a:solidFill>
                <a:latin typeface="Calibri"/>
              </a:defRPr>
            </a:pPr>
            <a:r>
              <a:t>   • 97.0% Emergency Recall (97/100 detected)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MODULE 2: STOCHASTIC ACTUATION</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Demand-Responsive Green Allocation &amp; Arrival Modeling</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Kinematic queue clearance, density gap-out truncation, and Chi-Square goodness-of-fit</a:t>
            </a:r>
          </a:p>
        </p:txBody>
      </p:sp>
      <p:sp>
        <p:nvSpPr>
          <p:cNvPr id="6" name="Rounded Rectangle 5"/>
          <p:cNvSpPr/>
          <p:nvPr/>
        </p:nvSpPr>
        <p:spPr>
          <a:xfrm>
            <a:off x="731520" y="1737360"/>
            <a:ext cx="52120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Webster Kinematic Actuation (SC1)</a:t>
            </a:r>
          </a:p>
          <a:p>
            <a:pPr>
              <a:spcAft>
                <a:spcPts val="600"/>
              </a:spcAft>
              <a:defRPr sz="1200">
                <a:solidFill>
                  <a:srgbClr val="F8FAFC"/>
                </a:solidFill>
                <a:latin typeface="Calibri"/>
              </a:defRPr>
            </a:pPr>
            <a:r>
              <a:t>1. Dynamic Green Phase Allocation:</a:t>
            </a:r>
          </a:p>
          <a:p>
            <a:pPr>
              <a:spcAft>
                <a:spcPts val="600"/>
              </a:spcAft>
              <a:defRPr sz="1200">
                <a:solidFill>
                  <a:srgbClr val="F8FAFC"/>
                </a:solidFill>
                <a:latin typeface="Calibri"/>
              </a:defRPr>
            </a:pPr>
            <a:r>
              <a:t>   g_target = t_lost + (q / v_discharge)</a:t>
            </a:r>
          </a:p>
          <a:p>
            <a:pPr>
              <a:spcAft>
                <a:spcPts val="600"/>
              </a:spcAft>
              <a:defRPr sz="1200">
                <a:solidFill>
                  <a:srgbClr val="F8FAFC"/>
                </a:solidFill>
                <a:latin typeface="Calibri"/>
              </a:defRPr>
            </a:pPr>
            <a:r>
              <a:t>   where t_lost = 2.0s and v_discharge = (s_flow/3600)*L_veh.</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Strict Operational Safety Bounds:</a:t>
            </a:r>
          </a:p>
          <a:p>
            <a:pPr>
              <a:spcAft>
                <a:spcPts val="600"/>
              </a:spcAft>
              <a:defRPr sz="1200">
                <a:solidFill>
                  <a:srgbClr val="F8FAFC"/>
                </a:solidFill>
                <a:latin typeface="Calibri"/>
              </a:defRPr>
            </a:pPr>
            <a:r>
              <a:t>   g = min(60.0s, max(10.0s, g_target))</a:t>
            </a:r>
          </a:p>
          <a:p>
            <a:pPr>
              <a:spcAft>
                <a:spcPts val="600"/>
              </a:spcAft>
              <a:defRPr sz="1200">
                <a:solidFill>
                  <a:srgbClr val="F8FAFC"/>
                </a:solidFill>
                <a:latin typeface="Calibri"/>
              </a:defRPr>
            </a:pPr>
            <a:r>
              <a:t>   • q = 0.0m -&gt; g = 10.0s (clamped to g_min)</a:t>
            </a:r>
          </a:p>
          <a:p>
            <a:pPr>
              <a:spcAft>
                <a:spcPts val="600"/>
              </a:spcAft>
              <a:defRPr sz="1200">
                <a:solidFill>
                  <a:srgbClr val="F8FAFC"/>
                </a:solidFill>
                <a:latin typeface="Calibri"/>
              </a:defRPr>
            </a:pPr>
            <a:r>
              <a:t>   • q = 35.0m (5 cars) -&gt; g = 11.5s</a:t>
            </a:r>
          </a:p>
          <a:p>
            <a:pPr>
              <a:spcAft>
                <a:spcPts val="600"/>
              </a:spcAft>
              <a:defRPr sz="1200">
                <a:solidFill>
                  <a:srgbClr val="F8FAFC"/>
                </a:solidFill>
                <a:latin typeface="Calibri"/>
              </a:defRPr>
            </a:pPr>
            <a:r>
              <a:t>   • q = 140.0m (20 cars) -&gt; g = 39.9s</a:t>
            </a:r>
          </a:p>
          <a:p>
            <a:pPr>
              <a:spcAft>
                <a:spcPts val="600"/>
              </a:spcAft>
              <a:defRPr sz="1200">
                <a:solidFill>
                  <a:srgbClr val="F8FAFC"/>
                </a:solidFill>
                <a:latin typeface="Calibri"/>
              </a:defRPr>
            </a:pPr>
            <a:r>
              <a:t>   • q = 350.0m (50 cars) -&gt; g = 60.0s (clamped to g_max)</a:t>
            </a:r>
          </a:p>
          <a:p>
            <a:pPr>
              <a:spcAft>
                <a:spcPts val="600"/>
              </a:spcAft>
              <a:defRPr sz="1200">
                <a:solidFill>
                  <a:srgbClr val="F8FAFC"/>
                </a:solidFill>
                <a:latin typeface="Calibri"/>
              </a:defRPr>
            </a:pPr>
            <a:r>
              <a:t>   SC1 PASSED: Strict monotonic scaling bounded in [10s, 60s].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Dynamic Density Gap-Out Truncation:</a:t>
            </a:r>
          </a:p>
          <a:p>
            <a:pPr>
              <a:spcAft>
                <a:spcPts val="600"/>
              </a:spcAft>
              <a:defRPr sz="1200">
                <a:solidFill>
                  <a:srgbClr val="F8FAFC"/>
                </a:solidFill>
                <a:latin typeface="Calibri"/>
              </a:defRPr>
            </a:pPr>
            <a:r>
              <a:t>   If rho &lt;= 0.02 veh/m for &gt;= 3.0s, green phase terminates early.</a:t>
            </a:r>
          </a:p>
        </p:txBody>
      </p:sp>
      <p:sp>
        <p:nvSpPr>
          <p:cNvPr id="7" name="Rounded Rectangle 6"/>
          <p:cNvSpPr/>
          <p:nvPr/>
        </p:nvSpPr>
        <p:spPr>
          <a:xfrm>
            <a:off x="6217920" y="1737360"/>
            <a:ext cx="5212080" cy="45720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Poisson Goodness-of-Fit Analysis</a:t>
            </a:r>
          </a:p>
          <a:p>
            <a:pPr>
              <a:spcAft>
                <a:spcPts val="600"/>
              </a:spcAft>
              <a:defRPr sz="1200">
                <a:solidFill>
                  <a:srgbClr val="F8FAFC"/>
                </a:solidFill>
                <a:latin typeface="Calibri"/>
              </a:defRPr>
            </a:pPr>
            <a:r>
              <a:t>1. Rolling EWMA Arrival Rate Tracking:</a:t>
            </a:r>
          </a:p>
          <a:p>
            <a:pPr>
              <a:spcAft>
                <a:spcPts val="600"/>
              </a:spcAft>
              <a:defRPr sz="1200">
                <a:solidFill>
                  <a:srgbClr val="F8FAFC"/>
                </a:solidFill>
                <a:latin typeface="Calibri"/>
              </a:defRPr>
            </a:pPr>
            <a:r>
              <a:t>   lambda_t = 0.20 * (Delta_N / Delta_t) + 0.80 * lambda_{t-1}</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Automated Chi-Square (chi^2) Goodness-of-Fit Check:</a:t>
            </a:r>
          </a:p>
          <a:p>
            <a:pPr>
              <a:spcAft>
                <a:spcPts val="600"/>
              </a:spcAft>
              <a:defRPr sz="1200">
                <a:solidFill>
                  <a:srgbClr val="F8FAFC"/>
                </a:solidFill>
                <a:latin typeface="Calibri"/>
              </a:defRPr>
            </a:pPr>
            <a:r>
              <a:t>   chi^2 = sum_{k=1}^10 ((O_k - E_k)^2 / E_k), N = 479</a:t>
            </a:r>
          </a:p>
          <a:p>
            <a:pPr>
              <a:spcAft>
                <a:spcPts val="600"/>
              </a:spcAft>
              <a:defRPr sz="1200">
                <a:solidFill>
                  <a:srgbClr val="F8FAFC"/>
                </a:solidFill>
                <a:latin typeface="Calibri"/>
              </a:defRPr>
            </a:pPr>
            <a:r>
              <a:t>   Statistic = 2522.27, p-value = 0.000</a:t>
            </a:r>
          </a:p>
          <a:p>
            <a:pPr>
              <a:spcAft>
                <a:spcPts val="600"/>
              </a:spcAft>
              <a:defRPr sz="1200">
                <a:solidFill>
                  <a:srgbClr val="F8FAFC"/>
                </a:solidFill>
                <a:latin typeface="Calibri"/>
              </a:defRPr>
            </a:pPr>
            <a:r>
              <a:t>   Outcome: poisson_assumption_holds = False</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Honest Empirical Scoping Analysis:</a:t>
            </a:r>
          </a:p>
          <a:p>
            <a:pPr>
              <a:spcAft>
                <a:spcPts val="600"/>
              </a:spcAft>
              <a:defRPr sz="1200">
                <a:solidFill>
                  <a:srgbClr val="F8FAFC"/>
                </a:solidFill>
                <a:latin typeface="Calibri"/>
              </a:defRPr>
            </a:pPr>
            <a:r>
              <a:t>   Uniform 0.25s synthetic frame sampling produces discrete, low-variance arrivals that violate memoryless exponential distributions.</a:t>
            </a:r>
          </a:p>
          <a:p>
            <a:pPr>
              <a:spcAft>
                <a:spcPts val="600"/>
              </a:spcAft>
              <a:defRPr sz="1200">
                <a:solidFill>
                  <a:srgbClr val="F8FAFC"/>
                </a:solidFill>
                <a:latin typeface="Calibri"/>
              </a:defRPr>
            </a:pPr>
            <a:r>
              <a:t>   Rather than masking this, Kinetica logs it transparently and relies on direct homography queue measurements.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MODULE 3: PREEMPTION &amp; CORRIDOR ROUTING</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Starvation-Free Max-Heap &amp; Multi-Intersection Green Waves</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Sub-microsecond priority arbitration and proactive downstream queue flushing</a:t>
            </a:r>
          </a:p>
        </p:txBody>
      </p:sp>
      <p:sp>
        <p:nvSpPr>
          <p:cNvPr id="6" name="Rounded Rectangle 5"/>
          <p:cNvSpPr/>
          <p:nvPr/>
        </p:nvSpPr>
        <p:spPr>
          <a:xfrm>
            <a:off x="731520" y="1737360"/>
            <a:ext cx="521208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Urgency Scoring &amp; Max-Heap (SC2)</a:t>
            </a:r>
          </a:p>
          <a:p>
            <a:pPr>
              <a:spcAft>
                <a:spcPts val="600"/>
              </a:spcAft>
              <a:defRPr sz="1200">
                <a:solidFill>
                  <a:srgbClr val="F8FAFC"/>
                </a:solidFill>
                <a:latin typeface="Calibri"/>
              </a:defRPr>
            </a:pPr>
            <a:r>
              <a:t>1. Dynamic Urgency Scoring Formulation:</a:t>
            </a:r>
          </a:p>
          <a:p>
            <a:pPr>
              <a:spcAft>
                <a:spcPts val="600"/>
              </a:spcAft>
              <a:defRPr sz="1200">
                <a:solidFill>
                  <a:srgbClr val="F8FAFC"/>
                </a:solidFill>
                <a:latin typeface="Calibri"/>
              </a:defRPr>
            </a:pPr>
            <a:r>
              <a:t>   Score_i = (M_v * (1.0 + rho_i * beta)) + (gamma * w_i)</a:t>
            </a:r>
          </a:p>
          <a:p>
            <a:pPr>
              <a:spcAft>
                <a:spcPts val="600"/>
              </a:spcAft>
              <a:defRPr sz="1200">
                <a:solidFill>
                  <a:srgbClr val="F8FAFC"/>
                </a:solidFill>
                <a:latin typeface="Calibri"/>
              </a:defRPr>
            </a:pPr>
            <a:r>
              <a:t>   • Emergency Multiplier: M_AMBULANCE = 1000.0, M_POLICE = 1000.0</a:t>
            </a:r>
          </a:p>
          <a:p>
            <a:pPr>
              <a:spcAft>
                <a:spcPts val="600"/>
              </a:spcAft>
              <a:defRPr sz="1200">
                <a:solidFill>
                  <a:srgbClr val="F8FAFC"/>
                </a:solidFill>
                <a:latin typeface="Calibri"/>
              </a:defRPr>
            </a:pPr>
            <a:r>
              <a:t>   • School Van Multiplier: M_SCHOOL_VAN = 50.0 (school zones)</a:t>
            </a:r>
          </a:p>
          <a:p>
            <a:pPr>
              <a:spcAft>
                <a:spcPts val="600"/>
              </a:spcAft>
              <a:defRPr sz="1200">
                <a:solidFill>
                  <a:srgbClr val="F8FAFC"/>
                </a:solidFill>
                <a:latin typeface="Calibri"/>
              </a:defRPr>
            </a:pPr>
            <a:r>
              <a:t>   • Density Weight: beta = 20.0; Aging Weight: gamma = 1.0/s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The Anti-Starvation Aging Invariant:</a:t>
            </a:r>
          </a:p>
          <a:p>
            <a:pPr>
              <a:spcAft>
                <a:spcPts val="600"/>
              </a:spcAft>
              <a:defRPr sz="1200">
                <a:solidFill>
                  <a:srgbClr val="F8FAFC"/>
                </a:solidFill>
                <a:latin typeface="Calibri"/>
              </a:defRPr>
            </a:pPr>
            <a:r>
              <a:t>   Linear wait-time growth (+1.0*w) guarantees unserved cross-streets accumulate sufficient urgency to prevent infinite lockout.</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Tombstone-Purged Max-Heap (LanePriorityHeap):</a:t>
            </a:r>
          </a:p>
          <a:p>
            <a:pPr>
              <a:spcAft>
                <a:spcPts val="600"/>
              </a:spcAft>
              <a:defRPr sz="1200">
                <a:solidFill>
                  <a:srgbClr val="F8FAFC"/>
                </a:solidFill>
                <a:latin typeface="Calibri"/>
              </a:defRPr>
            </a:pPr>
            <a:r>
              <a:t>   • 4 Lanes: 0.00075 ms (750 ns) — 1333x faster than 1ms budget</a:t>
            </a:r>
          </a:p>
          <a:p>
            <a:pPr>
              <a:spcAft>
                <a:spcPts val="600"/>
              </a:spcAft>
              <a:defRPr sz="1200">
                <a:solidFill>
                  <a:srgbClr val="F8FAFC"/>
                </a:solidFill>
                <a:latin typeface="Calibri"/>
              </a:defRPr>
            </a:pPr>
            <a:r>
              <a:t>   • 32 Lanes: 0.00029 ms (290 ns) — sub-microsecond scaling</a:t>
            </a:r>
          </a:p>
          <a:p>
            <a:pPr>
              <a:spcAft>
                <a:spcPts val="600"/>
              </a:spcAft>
              <a:defRPr sz="1200">
                <a:solidFill>
                  <a:srgbClr val="F8FAFC"/>
                </a:solidFill>
                <a:latin typeface="Calibri"/>
              </a:defRPr>
            </a:pPr>
            <a:r>
              <a:t>   SC2 PASSED: Ambulance (Score 3000.0) seizes root ahead of queues.</a:t>
            </a:r>
          </a:p>
        </p:txBody>
      </p:sp>
      <p:sp>
        <p:nvSpPr>
          <p:cNvPr id="7" name="Rounded Rectangle 6"/>
          <p:cNvSpPr/>
          <p:nvPr/>
        </p:nvSpPr>
        <p:spPr>
          <a:xfrm>
            <a:off x="6217920" y="1737360"/>
            <a:ext cx="52120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Corridor Green Wave Preclear (SC3)</a:t>
            </a:r>
          </a:p>
          <a:p>
            <a:pPr>
              <a:spcAft>
                <a:spcPts val="600"/>
              </a:spcAft>
              <a:defRPr sz="1200">
                <a:solidFill>
                  <a:srgbClr val="F8FAFC"/>
                </a:solidFill>
                <a:latin typeface="Calibri"/>
              </a:defRPr>
            </a:pPr>
            <a:r>
              <a:t>1. Directed Network Graph Trajectory Projection:</a:t>
            </a:r>
          </a:p>
          <a:p>
            <a:pPr>
              <a:spcAft>
                <a:spcPts val="600"/>
              </a:spcAft>
              <a:defRPr sz="1200">
                <a:solidFill>
                  <a:srgbClr val="F8FAFC"/>
                </a:solidFill>
                <a:latin typeface="Calibri"/>
              </a:defRPr>
            </a:pPr>
            <a:r>
              <a:t>   Network modeled as directed graph G = (V, E) in NetworkX.</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Proactive Downstream Preclearance:</a:t>
            </a:r>
          </a:p>
          <a:p>
            <a:pPr>
              <a:spcAft>
                <a:spcPts val="600"/>
              </a:spcAft>
              <a:defRPr sz="1200">
                <a:solidFill>
                  <a:srgbClr val="F8FAFC"/>
                </a:solidFill>
                <a:latin typeface="Calibri"/>
              </a:defRPr>
            </a:pPr>
            <a:r>
              <a:t>   Ambulance detected at IX-01 triggers downstream path projection:</a:t>
            </a:r>
          </a:p>
          <a:p>
            <a:pPr>
              <a:spcAft>
                <a:spcPts val="600"/>
              </a:spcAft>
              <a:defRPr sz="1200">
                <a:solidFill>
                  <a:srgbClr val="F8FAFC"/>
                </a:solidFill>
                <a:latin typeface="Calibri"/>
              </a:defRPr>
            </a:pPr>
            <a:r>
              <a:t>   Corridor Path = [IX-02, IX-03, IX-04]</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Eliminating the 'Standing Queue Trap':</a:t>
            </a:r>
          </a:p>
          <a:p>
            <a:pPr>
              <a:spcAft>
                <a:spcPts val="600"/>
              </a:spcAft>
              <a:defRPr sz="1200">
                <a:solidFill>
                  <a:srgbClr val="F8FAFC"/>
                </a:solidFill>
                <a:latin typeface="Calibri"/>
              </a:defRPr>
            </a:pPr>
            <a:r>
              <a:t>   Signals at IX-02, IX-03, and IX-04 are pre-empted ahead of arrival, flushing standing red-light queues out of the arterial corridor.</a:t>
            </a:r>
          </a:p>
          <a:p>
            <a:pPr>
              <a:spcAft>
                <a:spcPts val="600"/>
              </a:spcAft>
              <a:defRPr sz="1200">
                <a:solidFill>
                  <a:srgbClr val="F8FAFC"/>
                </a:solidFill>
                <a:latin typeface="Calibri"/>
              </a:defRPr>
            </a:pPr>
          </a:p>
          <a:p>
            <a:pPr>
              <a:spcAft>
                <a:spcPts val="600"/>
              </a:spcAft>
              <a:defRPr sz="1200">
                <a:solidFill>
                  <a:srgbClr val="F8FAFC"/>
                </a:solidFill>
                <a:latin typeface="Calibri"/>
              </a:defRPr>
            </a:pPr>
            <a:r>
              <a:t>4. SC3 PASSED:</a:t>
            </a:r>
          </a:p>
          <a:p>
            <a:pPr>
              <a:spcAft>
                <a:spcPts val="600"/>
              </a:spcAft>
              <a:defRPr sz="1200">
                <a:solidFill>
                  <a:srgbClr val="F8FAFC"/>
                </a:solidFill>
                <a:latin typeface="Calibri"/>
              </a:defRPr>
            </a:pPr>
            <a:r>
              <a:t>   Preclear emitted for 3 downstream intersections with reason = PREEMPTED and 30.0s green window.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OBSERVABILITY LAYER</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Next.js 16 / React 19 Control Room &amp; FastAPI Edge Gateway</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Enterprise-grade human-factors dashboard broadcasting 30 Hz live traffic telemetry</a:t>
            </a:r>
          </a:p>
        </p:txBody>
      </p:sp>
      <p:sp>
        <p:nvSpPr>
          <p:cNvPr id="6" name="Rounded Rectangle 5"/>
          <p:cNvSpPr/>
          <p:nvPr/>
        </p:nvSpPr>
        <p:spPr>
          <a:xfrm>
            <a:off x="731520" y="1737360"/>
            <a:ext cx="521208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Next.js Control Room Features</a:t>
            </a:r>
          </a:p>
          <a:p>
            <a:pPr>
              <a:spcAft>
                <a:spcPts val="600"/>
              </a:spcAft>
              <a:defRPr sz="1200">
                <a:solidFill>
                  <a:srgbClr val="F8FAFC"/>
                </a:solidFill>
                <a:latin typeface="Calibri"/>
              </a:defRPr>
            </a:pPr>
            <a:r>
              <a:t>1. Top-Down CAD Junction Simulator:</a:t>
            </a:r>
          </a:p>
          <a:p>
            <a:pPr>
              <a:spcAft>
                <a:spcPts val="600"/>
              </a:spcAft>
              <a:defRPr sz="1200">
                <a:solidFill>
                  <a:srgbClr val="F8FAFC"/>
                </a:solidFill>
                <a:latin typeface="Calibri"/>
              </a:defRPr>
            </a:pPr>
            <a:r>
              <a:t>   • Expanded 67% grid layout (880 x 520 px canvas).</a:t>
            </a:r>
          </a:p>
          <a:p>
            <a:pPr>
              <a:spcAft>
                <a:spcPts val="600"/>
              </a:spcAft>
              <a:defRPr sz="1200">
                <a:solidFill>
                  <a:srgbClr val="F8FAFC"/>
                </a:solidFill>
                <a:latin typeface="Calibri"/>
              </a:defRPr>
            </a:pPr>
            <a:r>
              <a:t>   • Real-time vehicle kinematics, stopline queue polygons, dynamic signal heads, and emergency flashers.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Live Vision Monitor View:</a:t>
            </a:r>
          </a:p>
          <a:p>
            <a:pPr>
              <a:spcAft>
                <a:spcPts val="600"/>
              </a:spcAft>
              <a:defRPr sz="1200">
                <a:solidFill>
                  <a:srgbClr val="F8FAFC"/>
                </a:solidFill>
                <a:latin typeface="Calibri"/>
              </a:defRPr>
            </a:pPr>
            <a:r>
              <a:t>   • Real-time CCTV ingestion, YOLOv8 detection overlays, and metric queue length readouts.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Emergency Preemption Incident Feed:</a:t>
            </a:r>
          </a:p>
          <a:p>
            <a:pPr>
              <a:spcAft>
                <a:spcPts val="600"/>
              </a:spcAft>
              <a:defRPr sz="1200">
                <a:solidFill>
                  <a:srgbClr val="F8FAFC"/>
                </a:solidFill>
                <a:latin typeface="Calibri"/>
              </a:defRPr>
            </a:pPr>
            <a:r>
              <a:t>   • Instant 108 ambulance detection banners, priority score elevations, and downstream corridor route tracking.</a:t>
            </a:r>
          </a:p>
          <a:p>
            <a:pPr>
              <a:spcAft>
                <a:spcPts val="600"/>
              </a:spcAft>
              <a:defRPr sz="1200">
                <a:solidFill>
                  <a:srgbClr val="F8FAFC"/>
                </a:solidFill>
                <a:latin typeface="Calibri"/>
              </a:defRPr>
            </a:pPr>
          </a:p>
          <a:p>
            <a:pPr>
              <a:spcAft>
                <a:spcPts val="600"/>
              </a:spcAft>
              <a:defRPr sz="1200">
                <a:solidFill>
                  <a:srgbClr val="F8FAFC"/>
                </a:solidFill>
                <a:latin typeface="Calibri"/>
              </a:defRPr>
            </a:pPr>
            <a:r>
              <a:t>4. Empirical Telemetry Hub:</a:t>
            </a:r>
          </a:p>
          <a:p>
            <a:pPr>
              <a:spcAft>
                <a:spcPts val="600"/>
              </a:spcAft>
              <a:defRPr sz="1200">
                <a:solidFill>
                  <a:srgbClr val="F8FAFC"/>
                </a:solidFill>
                <a:latin typeface="Calibri"/>
              </a:defRPr>
            </a:pPr>
            <a:r>
              <a:t>   • Real-time charts for arrival rates, delay distributions, and hypothesis test metrics directly from backend logs.</a:t>
            </a:r>
          </a:p>
        </p:txBody>
      </p:sp>
      <p:sp>
        <p:nvSpPr>
          <p:cNvPr id="7" name="Rounded Rectangle 6"/>
          <p:cNvSpPr/>
          <p:nvPr/>
        </p:nvSpPr>
        <p:spPr>
          <a:xfrm>
            <a:off x="6217920" y="1737360"/>
            <a:ext cx="52120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FastAPI Edge Gateway Architecture</a:t>
            </a:r>
          </a:p>
          <a:p>
            <a:pPr>
              <a:spcAft>
                <a:spcPts val="600"/>
              </a:spcAft>
              <a:defRPr sz="1200">
                <a:solidFill>
                  <a:srgbClr val="F8FAFC"/>
                </a:solidFill>
                <a:latin typeface="Calibri"/>
              </a:defRPr>
            </a:pPr>
            <a:r>
              <a:t>1. Asynchronous Python Backend (edge_gateway.py):</a:t>
            </a:r>
          </a:p>
          <a:p>
            <a:pPr>
              <a:spcAft>
                <a:spcPts val="600"/>
              </a:spcAft>
              <a:defRPr sz="1200">
                <a:solidFill>
                  <a:srgbClr val="F8FAFC"/>
                </a:solidFill>
                <a:latin typeface="Calibri"/>
              </a:defRPr>
            </a:pPr>
            <a:r>
              <a:t>   High-performance uvicorn server running on http://localhost:8000.</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Core REST &amp; WebSocket Endpoints:</a:t>
            </a:r>
          </a:p>
          <a:p>
            <a:pPr>
              <a:spcAft>
                <a:spcPts val="600"/>
              </a:spcAft>
              <a:defRPr sz="1200">
                <a:solidFill>
                  <a:srgbClr val="F8FAFC"/>
                </a:solidFill>
                <a:latin typeface="Calibri"/>
              </a:defRPr>
            </a:pPr>
            <a:r>
              <a:t>   • GET /api/health — Model status probe (YOLOv8n ONNX online).</a:t>
            </a:r>
          </a:p>
          <a:p>
            <a:pPr>
              <a:spcAft>
                <a:spcPts val="600"/>
              </a:spcAft>
              <a:defRPr sz="1200">
                <a:solidFill>
                  <a:srgbClr val="F8FAFC"/>
                </a:solidFill>
                <a:latin typeface="Calibri"/>
              </a:defRPr>
            </a:pPr>
            <a:r>
              <a:t>   • GET /api/telemetry — Approach queue lengths and active phase.</a:t>
            </a:r>
          </a:p>
          <a:p>
            <a:pPr>
              <a:spcAft>
                <a:spcPts val="600"/>
              </a:spcAft>
              <a:defRPr sz="1200">
                <a:solidFill>
                  <a:srgbClr val="F8FAFC"/>
                </a:solidFill>
                <a:latin typeface="Calibri"/>
              </a:defRPr>
            </a:pPr>
            <a:r>
              <a:t>   • POST /api/detect — Raw frame ingestion for edge inference.</a:t>
            </a:r>
          </a:p>
          <a:p>
            <a:pPr>
              <a:spcAft>
                <a:spcPts val="600"/>
              </a:spcAft>
              <a:defRPr sz="1200">
                <a:solidFill>
                  <a:srgbClr val="F8FAFC"/>
                </a:solidFill>
                <a:latin typeface="Calibri"/>
              </a:defRPr>
            </a:pPr>
            <a:r>
              <a:t>   • POST /api/preempt — Manual emergency injection trigger.</a:t>
            </a:r>
          </a:p>
          <a:p>
            <a:pPr>
              <a:spcAft>
                <a:spcPts val="600"/>
              </a:spcAft>
              <a:defRPr sz="1200">
                <a:solidFill>
                  <a:srgbClr val="F8FAFC"/>
                </a:solidFill>
                <a:latin typeface="Calibri"/>
              </a:defRPr>
            </a:pPr>
            <a:r>
              <a:t>   • GET /ws/traffic — Bidirectional 30 Hz live WebSocket broadcast.</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Read-Only Observability Constraint:</a:t>
            </a:r>
          </a:p>
          <a:p>
            <a:pPr>
              <a:spcAft>
                <a:spcPts val="600"/>
              </a:spcAft>
              <a:defRPr sz="1200">
                <a:solidFill>
                  <a:srgbClr val="F8FAFC"/>
                </a:solidFill>
                <a:latin typeface="Calibri"/>
              </a:defRPr>
            </a:pPr>
            <a:r>
              <a:t>   Dashboard strictly visualizes backend data; zero client-side metric fabrication.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100% IMPLEMENTATION DEMONSTRATION (10 MARKS)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Live Demonstration Checklist &amp; Execution Runbook</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End-to-end verification across edge gateway, frontend dashboard, and automated test suite</a:t>
            </a:r>
          </a:p>
        </p:txBody>
      </p:sp>
      <p:sp>
        <p:nvSpPr>
          <p:cNvPr id="6" name="Rounded Rectangle 5"/>
          <p:cNvSpPr/>
          <p:nvPr/>
        </p:nvSpPr>
        <p:spPr>
          <a:xfrm>
            <a:off x="731520" y="1737360"/>
            <a:ext cx="52120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Live System Verification Checklist</a:t>
            </a:r>
          </a:p>
          <a:p>
            <a:pPr>
              <a:spcAft>
                <a:spcPts val="600"/>
              </a:spcAft>
              <a:defRPr sz="1200">
                <a:solidFill>
                  <a:srgbClr val="F8FAFC"/>
                </a:solidFill>
                <a:latin typeface="Calibri"/>
              </a:defRPr>
            </a:pPr>
            <a:r>
              <a:t>[x] FastAPI Edge Gateway Backend:</a:t>
            </a:r>
          </a:p>
          <a:p>
            <a:pPr>
              <a:spcAft>
                <a:spcPts val="600"/>
              </a:spcAft>
              <a:defRPr sz="1200">
                <a:solidFill>
                  <a:srgbClr val="F8FAFC"/>
                </a:solidFill>
                <a:latin typeface="Calibri"/>
              </a:defRPr>
            </a:pPr>
            <a:r>
              <a:t>    Running on http://localhost:8000 (YOLOv8n ONNX loaded, nominal).</a:t>
            </a:r>
          </a:p>
          <a:p>
            <a:pPr>
              <a:spcAft>
                <a:spcPts val="600"/>
              </a:spcAft>
              <a:defRPr sz="1200">
                <a:solidFill>
                  <a:srgbClr val="F8FAFC"/>
                </a:solidFill>
                <a:latin typeface="Calibri"/>
              </a:defRPr>
            </a:pPr>
          </a:p>
          <a:p>
            <a:pPr>
              <a:spcAft>
                <a:spcPts val="600"/>
              </a:spcAft>
              <a:defRPr sz="1200">
                <a:solidFill>
                  <a:srgbClr val="F8FAFC"/>
                </a:solidFill>
                <a:latin typeface="Calibri"/>
              </a:defRPr>
            </a:pPr>
            <a:r>
              <a:t>[x] Next.js Control Room Frontend:</a:t>
            </a:r>
          </a:p>
          <a:p>
            <a:pPr>
              <a:spcAft>
                <a:spcPts val="600"/>
              </a:spcAft>
              <a:defRPr sz="1200">
                <a:solidFill>
                  <a:srgbClr val="F8FAFC"/>
                </a:solidFill>
                <a:latin typeface="Calibri"/>
              </a:defRPr>
            </a:pPr>
            <a:r>
              <a:t>    Running on http://localhost:3000 (Interactive, 30 Hz WebSockets).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[x] Live Video / CCTV Edge Detection:</a:t>
            </a:r>
          </a:p>
          <a:p>
            <a:pPr>
              <a:spcAft>
                <a:spcPts val="600"/>
              </a:spcAft>
              <a:defRPr sz="1200">
                <a:solidFill>
                  <a:srgbClr val="F8FAFC"/>
                </a:solidFill>
                <a:latin typeface="Calibri"/>
              </a:defRPr>
            </a:pPr>
            <a:r>
              <a:t>    Uploading traffic video frames triggers real-time YOLOv8 bounding boxes, homography ground projection, and queue updates.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[x] Demand-Responsive Actuation:</a:t>
            </a:r>
          </a:p>
          <a:p>
            <a:pPr>
              <a:spcAft>
                <a:spcPts val="600"/>
              </a:spcAft>
              <a:defRPr sz="1200">
                <a:solidFill>
                  <a:srgbClr val="F8FAFC"/>
                </a:solidFill>
                <a:latin typeface="Calibri"/>
              </a:defRPr>
            </a:pPr>
            <a:r>
              <a:t>    Adjusting approach volume dynamically extends or truncates green duration within [10s, 60s].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[x] 108 Emergency Preemption Trigger:</a:t>
            </a:r>
          </a:p>
          <a:p>
            <a:pPr>
              <a:spcAft>
                <a:spcPts val="600"/>
              </a:spcAft>
              <a:defRPr sz="1200">
                <a:solidFill>
                  <a:srgbClr val="F8FAFC"/>
                </a:solidFill>
                <a:latin typeface="Calibri"/>
              </a:defRPr>
            </a:pPr>
            <a:r>
              <a:t>    Injecting an ambulance elevates priority score to 3000.0, forces immediate green, and pre-clears 3 downstream junctions.</a:t>
            </a:r>
          </a:p>
        </p:txBody>
      </p:sp>
      <p:sp>
        <p:nvSpPr>
          <p:cNvPr id="7" name="Rounded Rectangle 6"/>
          <p:cNvSpPr/>
          <p:nvPr/>
        </p:nvSpPr>
        <p:spPr>
          <a:xfrm>
            <a:off x="6217920" y="1737360"/>
            <a:ext cx="521208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Execution Runbook &amp; Test Audit</a:t>
            </a:r>
          </a:p>
          <a:p>
            <a:pPr>
              <a:spcAft>
                <a:spcPts val="600"/>
              </a:spcAft>
              <a:defRPr sz="1200">
                <a:solidFill>
                  <a:srgbClr val="F8FAFC"/>
                </a:solidFill>
                <a:latin typeface="Calibri"/>
              </a:defRPr>
            </a:pPr>
            <a:r>
              <a:t>1. Terminal Commands for Demonstration:</a:t>
            </a:r>
          </a:p>
          <a:p>
            <a:pPr>
              <a:spcAft>
                <a:spcPts val="600"/>
              </a:spcAft>
              <a:defRPr sz="1200">
                <a:solidFill>
                  <a:srgbClr val="F8FAFC"/>
                </a:solidFill>
                <a:latin typeface="Calibri"/>
              </a:defRPr>
            </a:pPr>
            <a:r>
              <a:t>   # Start FastAPI Edge Gateway</a:t>
            </a:r>
          </a:p>
          <a:p>
            <a:pPr>
              <a:spcAft>
                <a:spcPts val="600"/>
              </a:spcAft>
              <a:defRPr sz="1200">
                <a:solidFill>
                  <a:srgbClr val="F8FAFC"/>
                </a:solidFill>
                <a:latin typeface="Calibri"/>
              </a:defRPr>
            </a:pPr>
            <a:r>
              <a:t>   python3 -m uvicorn edge_gateway:app --host 0.0.0.0 --port 8000 --reload</a:t>
            </a:r>
          </a:p>
          <a:p>
            <a:pPr>
              <a:spcAft>
                <a:spcPts val="600"/>
              </a:spcAft>
              <a:defRPr sz="1200">
                <a:solidFill>
                  <a:srgbClr val="F8FAFC"/>
                </a:solidFill>
                <a:latin typeface="Calibri"/>
              </a:defRPr>
            </a:pPr>
          </a:p>
          <a:p>
            <a:pPr>
              <a:spcAft>
                <a:spcPts val="600"/>
              </a:spcAft>
              <a:defRPr sz="1200">
                <a:solidFill>
                  <a:srgbClr val="F8FAFC"/>
                </a:solidFill>
                <a:latin typeface="Calibri"/>
              </a:defRPr>
            </a:pPr>
            <a:r>
              <a:t>   # Start Next.js Control Room</a:t>
            </a:r>
          </a:p>
          <a:p>
            <a:pPr>
              <a:spcAft>
                <a:spcPts val="600"/>
              </a:spcAft>
              <a:defRPr sz="1200">
                <a:solidFill>
                  <a:srgbClr val="F8FAFC"/>
                </a:solidFill>
                <a:latin typeface="Calibri"/>
              </a:defRPr>
            </a:pPr>
            <a:r>
              <a:t>   npm run dev  (Access on http://localhost:3000)</a:t>
            </a:r>
          </a:p>
          <a:p>
            <a:pPr>
              <a:spcAft>
                <a:spcPts val="600"/>
              </a:spcAft>
              <a:defRPr sz="1200">
                <a:solidFill>
                  <a:srgbClr val="F8FAFC"/>
                </a:solidFill>
                <a:latin typeface="Calibri"/>
              </a:defRPr>
            </a:pPr>
          </a:p>
          <a:p>
            <a:pPr>
              <a:spcAft>
                <a:spcPts val="600"/>
              </a:spcAft>
              <a:defRPr sz="1200">
                <a:solidFill>
                  <a:srgbClr val="F8FAFC"/>
                </a:solidFill>
                <a:latin typeface="Calibri"/>
              </a:defRPr>
            </a:pPr>
            <a:r>
              <a:t>   # Run Master End-to-End Simulation Pipeline</a:t>
            </a:r>
          </a:p>
          <a:p>
            <a:pPr>
              <a:spcAft>
                <a:spcPts val="600"/>
              </a:spcAft>
              <a:defRPr sz="1200">
                <a:solidFill>
                  <a:srgbClr val="F8FAFC"/>
                </a:solidFill>
                <a:latin typeface="Calibri"/>
              </a:defRPr>
            </a:pPr>
            <a:r>
              <a:t>   python3 run_end_to_end.py</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Automated Test Suite Audit (113 Passing Tests):</a:t>
            </a:r>
          </a:p>
          <a:p>
            <a:pPr>
              <a:spcAft>
                <a:spcPts val="600"/>
              </a:spcAft>
              <a:defRPr sz="1200">
                <a:solidFill>
                  <a:srgbClr val="F8FAFC"/>
                </a:solidFill>
                <a:latin typeface="Calibri"/>
              </a:defRPr>
            </a:pPr>
            <a:r>
              <a:t>   pytest -v</a:t>
            </a:r>
          </a:p>
          <a:p>
            <a:pPr>
              <a:spcAft>
                <a:spcPts val="600"/>
              </a:spcAft>
              <a:defRPr sz="1200">
                <a:solidFill>
                  <a:srgbClr val="F8FAFC"/>
                </a:solidFill>
                <a:latin typeface="Calibri"/>
              </a:defRPr>
            </a:pPr>
            <a:r>
              <a:t>   • 113 passed in 4.82s across all 9 test suites.</a:t>
            </a:r>
          </a:p>
          <a:p>
            <a:pPr>
              <a:spcAft>
                <a:spcPts val="600"/>
              </a:spcAft>
              <a:defRPr sz="1200">
                <a:solidFill>
                  <a:srgbClr val="F8FAFC"/>
                </a:solidFill>
                <a:latin typeface="Calibri"/>
              </a:defRPr>
            </a:pPr>
            <a:r>
              <a:t>   • SC1, SC2, SC3, and SC4 verified automatically.</a:t>
            </a:r>
          </a:p>
          <a:p>
            <a:pPr>
              <a:spcAft>
                <a:spcPts val="600"/>
              </a:spcAft>
              <a:defRPr sz="1200">
                <a:solidFill>
                  <a:srgbClr val="F8FAFC"/>
                </a:solidFill>
                <a:latin typeface="Calibri"/>
              </a:defRPr>
            </a:pPr>
            <a:r>
              <a:t>   • Supervised by: Dr. R. Krithiga (krithiga.r@vit.ac.in)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EMPIRICAL RESULTS: BENCHMARKS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Latency, Precision, and Actuation Benchmarks (SC1, SC2, SC3)</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Quantitative evaluation on commodity CPU hardware demonstrating real-time edge viability</a:t>
            </a:r>
          </a:p>
        </p:txBody>
      </p:sp>
      <p:sp>
        <p:nvSpPr>
          <p:cNvPr id="6" name="Rounded Rectangle 5"/>
          <p:cNvSpPr/>
          <p:nvPr/>
        </p:nvSpPr>
        <p:spPr>
          <a:xfrm>
            <a:off x="731520" y="1737360"/>
            <a:ext cx="338328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Edge Vision Throughput</a:t>
            </a:r>
          </a:p>
          <a:p>
            <a:pPr>
              <a:spcAft>
                <a:spcPts val="600"/>
              </a:spcAft>
              <a:defRPr sz="1200">
                <a:solidFill>
                  <a:srgbClr val="F8FAFC"/>
                </a:solidFill>
                <a:latin typeface="Calibri"/>
              </a:defRPr>
            </a:pPr>
            <a:r>
              <a:t>• Frame Ingestion: 2.1 ms</a:t>
            </a:r>
          </a:p>
          <a:p>
            <a:pPr>
              <a:spcAft>
                <a:spcPts val="600"/>
              </a:spcAft>
              <a:defRPr sz="1200">
                <a:solidFill>
                  <a:srgbClr val="F8FAFC"/>
                </a:solidFill>
                <a:latin typeface="Calibri"/>
              </a:defRPr>
            </a:pPr>
            <a:r>
              <a:t>• Preprocessing: 0.8 ms</a:t>
            </a:r>
          </a:p>
          <a:p>
            <a:pPr>
              <a:spcAft>
                <a:spcPts val="600"/>
              </a:spcAft>
              <a:defRPr sz="1200">
                <a:solidFill>
                  <a:srgbClr val="F8FAFC"/>
                </a:solidFill>
                <a:latin typeface="Calibri"/>
              </a:defRPr>
            </a:pPr>
            <a:r>
              <a:t>• YOLOv8n ONNX: 18.0 ms (55.5 FPS)</a:t>
            </a:r>
          </a:p>
          <a:p>
            <a:pPr>
              <a:spcAft>
                <a:spcPts val="600"/>
              </a:spcAft>
              <a:defRPr sz="1200">
                <a:solidFill>
                  <a:srgbClr val="F8FAFC"/>
                </a:solidFill>
                <a:latin typeface="Calibri"/>
              </a:defRPr>
            </a:pPr>
            <a:r>
              <a:t>• Planar Homography: 0.4 ms</a:t>
            </a:r>
          </a:p>
          <a:p>
            <a:pPr>
              <a:spcAft>
                <a:spcPts val="600"/>
              </a:spcAft>
              <a:defRPr sz="1200">
                <a:solidFill>
                  <a:srgbClr val="F8FAFC"/>
                </a:solidFill>
                <a:latin typeface="Calibri"/>
              </a:defRPr>
            </a:pPr>
            <a:r>
              <a:t>• HSV Classifier: 0.6 ms</a:t>
            </a:r>
          </a:p>
          <a:p>
            <a:pPr>
              <a:spcAft>
                <a:spcPts val="600"/>
              </a:spcAft>
              <a:defRPr sz="1200">
                <a:solidFill>
                  <a:srgbClr val="F8FAFC"/>
                </a:solidFill>
                <a:latin typeface="Calibri"/>
              </a:defRPr>
            </a:pPr>
            <a:r>
              <a:t>• Total Latency: 21.9 ms (45.6 FPS)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Classifier Accuracy (N = 200):</a:t>
            </a:r>
          </a:p>
          <a:p>
            <a:pPr>
              <a:spcAft>
                <a:spcPts val="600"/>
              </a:spcAft>
              <a:defRPr sz="1200">
                <a:solidFill>
                  <a:srgbClr val="F8FAFC"/>
                </a:solidFill>
                <a:latin typeface="Calibri"/>
              </a:defRPr>
            </a:pPr>
            <a:r>
              <a:t>• Emergency Recall: 97.0%</a:t>
            </a:r>
          </a:p>
          <a:p>
            <a:pPr>
              <a:spcAft>
                <a:spcPts val="600"/>
              </a:spcAft>
              <a:defRPr sz="1200">
                <a:solidFill>
                  <a:srgbClr val="F8FAFC"/>
                </a:solidFill>
                <a:latin typeface="Calibri"/>
              </a:defRPr>
            </a:pPr>
            <a:r>
              <a:t>• Emergency Precision: 100.0%</a:t>
            </a:r>
          </a:p>
          <a:p>
            <a:pPr>
              <a:spcAft>
                <a:spcPts val="600"/>
              </a:spcAft>
              <a:defRPr sz="1200">
                <a:solidFill>
                  <a:srgbClr val="F8FAFC"/>
                </a:solidFill>
                <a:latin typeface="Calibri"/>
              </a:defRPr>
            </a:pPr>
            <a:r>
              <a:t>• Civilian False Positives: 0.0%</a:t>
            </a:r>
          </a:p>
        </p:txBody>
      </p:sp>
      <p:sp>
        <p:nvSpPr>
          <p:cNvPr id="7" name="Rounded Rectangle 6"/>
          <p:cNvSpPr/>
          <p:nvPr/>
        </p:nvSpPr>
        <p:spPr>
          <a:xfrm>
            <a:off x="4389120" y="1737360"/>
            <a:ext cx="33832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Priority Max-Heap (SC2)</a:t>
            </a:r>
          </a:p>
          <a:p>
            <a:pPr>
              <a:spcAft>
                <a:spcPts val="600"/>
              </a:spcAft>
              <a:defRPr sz="1200">
                <a:solidFill>
                  <a:srgbClr val="F8FAFC"/>
                </a:solidFill>
                <a:latin typeface="Calibri"/>
              </a:defRPr>
            </a:pPr>
            <a:r>
              <a:t>Operational Scaling Benchmarks:</a:t>
            </a:r>
          </a:p>
          <a:p>
            <a:pPr>
              <a:spcAft>
                <a:spcPts val="600"/>
              </a:spcAft>
              <a:defRPr sz="1200">
                <a:solidFill>
                  <a:srgbClr val="F8FAFC"/>
                </a:solidFill>
                <a:latin typeface="Calibri"/>
              </a:defRPr>
            </a:pPr>
            <a:r>
              <a:t>• 4 Lanes: 0.00075 ms (750 ns)</a:t>
            </a:r>
          </a:p>
          <a:p>
            <a:pPr>
              <a:spcAft>
                <a:spcPts val="600"/>
              </a:spcAft>
              <a:defRPr sz="1200">
                <a:solidFill>
                  <a:srgbClr val="F8FAFC"/>
                </a:solidFill>
                <a:latin typeface="Calibri"/>
              </a:defRPr>
            </a:pPr>
            <a:r>
              <a:t>• 8 Lanes: 0.00040 ms (400 ns)</a:t>
            </a:r>
          </a:p>
          <a:p>
            <a:pPr>
              <a:spcAft>
                <a:spcPts val="600"/>
              </a:spcAft>
              <a:defRPr sz="1200">
                <a:solidFill>
                  <a:srgbClr val="F8FAFC"/>
                </a:solidFill>
                <a:latin typeface="Calibri"/>
              </a:defRPr>
            </a:pPr>
            <a:r>
              <a:t>• 16 Lanes: 0.00034 ms (340 ns)</a:t>
            </a:r>
          </a:p>
          <a:p>
            <a:pPr>
              <a:spcAft>
                <a:spcPts val="600"/>
              </a:spcAft>
              <a:defRPr sz="1200">
                <a:solidFill>
                  <a:srgbClr val="F8FAFC"/>
                </a:solidFill>
                <a:latin typeface="Calibri"/>
              </a:defRPr>
            </a:pPr>
            <a:r>
              <a:t>• 32 Lanes: 0.00029 ms (290 ns)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Real-Time Margin:</a:t>
            </a:r>
          </a:p>
          <a:p>
            <a:pPr>
              <a:spcAft>
                <a:spcPts val="600"/>
              </a:spcAft>
              <a:defRPr sz="1200">
                <a:solidFill>
                  <a:srgbClr val="F8FAFC"/>
                </a:solidFill>
                <a:latin typeface="Calibri"/>
              </a:defRPr>
            </a:pPr>
            <a:r>
              <a:t>• 1333x faster than 1.0 ms deadline.</a:t>
            </a:r>
          </a:p>
          <a:p>
            <a:pPr>
              <a:spcAft>
                <a:spcPts val="600"/>
              </a:spcAft>
              <a:defRPr sz="1200">
                <a:solidFill>
                  <a:srgbClr val="F8FAFC"/>
                </a:solidFill>
                <a:latin typeface="Calibri"/>
              </a:defRPr>
            </a:pPr>
            <a:r>
              <a:t>• Amortized O(1) peek/pop.</a:t>
            </a:r>
          </a:p>
          <a:p>
            <a:pPr>
              <a:spcAft>
                <a:spcPts val="600"/>
              </a:spcAft>
              <a:defRPr sz="1200">
                <a:solidFill>
                  <a:srgbClr val="F8FAFC"/>
                </a:solidFill>
                <a:latin typeface="Calibri"/>
              </a:defRPr>
            </a:pPr>
            <a:r>
              <a:t>• Emergency vehicle achieves Score = 3000.0, seizing heap root.</a:t>
            </a:r>
          </a:p>
        </p:txBody>
      </p:sp>
      <p:sp>
        <p:nvSpPr>
          <p:cNvPr id="8" name="Rounded Rectangle 7"/>
          <p:cNvSpPr/>
          <p:nvPr/>
        </p:nvSpPr>
        <p:spPr>
          <a:xfrm>
            <a:off x="8046720" y="1737360"/>
            <a:ext cx="3383280" cy="45720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Actuation &amp; Corridor (SC1, SC3)</a:t>
            </a:r>
          </a:p>
          <a:p>
            <a:pPr>
              <a:spcAft>
                <a:spcPts val="600"/>
              </a:spcAft>
              <a:defRPr sz="1200">
                <a:solidFill>
                  <a:srgbClr val="F8FAFC"/>
                </a:solidFill>
                <a:latin typeface="Calibri"/>
              </a:defRPr>
            </a:pPr>
            <a:r>
              <a:t>SC1 Green Scaling (q -&gt; g):</a:t>
            </a:r>
          </a:p>
          <a:p>
            <a:pPr>
              <a:spcAft>
                <a:spcPts val="600"/>
              </a:spcAft>
              <a:defRPr sz="1200">
                <a:solidFill>
                  <a:srgbClr val="F8FAFC"/>
                </a:solidFill>
                <a:latin typeface="Calibri"/>
              </a:defRPr>
            </a:pPr>
            <a:r>
              <a:t>• q = 0.0m -&gt; g = 10.0s (min bound)</a:t>
            </a:r>
          </a:p>
          <a:p>
            <a:pPr>
              <a:spcAft>
                <a:spcPts val="600"/>
              </a:spcAft>
              <a:defRPr sz="1200">
                <a:solidFill>
                  <a:srgbClr val="F8FAFC"/>
                </a:solidFill>
                <a:latin typeface="Calibri"/>
              </a:defRPr>
            </a:pPr>
            <a:r>
              <a:t>• q = 35.0m -&gt; g = 11.5s</a:t>
            </a:r>
          </a:p>
          <a:p>
            <a:pPr>
              <a:spcAft>
                <a:spcPts val="600"/>
              </a:spcAft>
              <a:defRPr sz="1200">
                <a:solidFill>
                  <a:srgbClr val="F8FAFC"/>
                </a:solidFill>
                <a:latin typeface="Calibri"/>
              </a:defRPr>
            </a:pPr>
            <a:r>
              <a:t>• q = 140.0m -&gt; g = 39.9s</a:t>
            </a:r>
          </a:p>
          <a:p>
            <a:pPr>
              <a:spcAft>
                <a:spcPts val="600"/>
              </a:spcAft>
              <a:defRPr sz="1200">
                <a:solidFill>
                  <a:srgbClr val="F8FAFC"/>
                </a:solidFill>
                <a:latin typeface="Calibri"/>
              </a:defRPr>
            </a:pPr>
            <a:r>
              <a:t>• q = 350.0m -&gt; g = 60.0s (max bound)</a:t>
            </a:r>
          </a:p>
          <a:p>
            <a:pPr>
              <a:spcAft>
                <a:spcPts val="600"/>
              </a:spcAft>
              <a:defRPr sz="1200">
                <a:solidFill>
                  <a:srgbClr val="F8FAFC"/>
                </a:solidFill>
                <a:latin typeface="Calibri"/>
              </a:defRPr>
            </a:pPr>
            <a:r>
              <a:t>• SC1 PASSED: Strict monotonic scaling.</a:t>
            </a:r>
          </a:p>
          <a:p>
            <a:pPr>
              <a:spcAft>
                <a:spcPts val="600"/>
              </a:spcAft>
              <a:defRPr sz="1200">
                <a:solidFill>
                  <a:srgbClr val="F8FAFC"/>
                </a:solidFill>
                <a:latin typeface="Calibri"/>
              </a:defRPr>
            </a:pPr>
          </a:p>
          <a:p>
            <a:pPr>
              <a:spcAft>
                <a:spcPts val="600"/>
              </a:spcAft>
              <a:defRPr sz="1200">
                <a:solidFill>
                  <a:srgbClr val="F8FAFC"/>
                </a:solidFill>
                <a:latin typeface="Calibri"/>
              </a:defRPr>
            </a:pPr>
            <a:r>
              <a:t>SC3 Corridor Preclearance:</a:t>
            </a:r>
          </a:p>
          <a:p>
            <a:pPr>
              <a:spcAft>
                <a:spcPts val="600"/>
              </a:spcAft>
              <a:defRPr sz="1200">
                <a:solidFill>
                  <a:srgbClr val="F8FAFC"/>
                </a:solidFill>
                <a:latin typeface="Calibri"/>
              </a:defRPr>
            </a:pPr>
            <a:r>
              <a:t>• 3 downstream preemption signals emitted for IX-02, IX-03, IX-04.</a:t>
            </a:r>
          </a:p>
          <a:p>
            <a:pPr>
              <a:spcAft>
                <a:spcPts val="600"/>
              </a:spcAft>
              <a:defRPr sz="1200">
                <a:solidFill>
                  <a:srgbClr val="F8FAFC"/>
                </a:solidFill>
                <a:latin typeface="Calibri"/>
              </a:defRPr>
            </a:pPr>
            <a:r>
              <a:t>• SC3 PASSED: Multi-junction green wave.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STATISTICAL HYPOTHESIS TESTING (SC4)</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Formal Non-Parametric Proof Over Fixed-Timer Baseline</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Decisive rejection of null hypothesis across 480 paired simulation cycles</a:t>
            </a:r>
          </a:p>
        </p:txBody>
      </p:sp>
      <p:sp>
        <p:nvSpPr>
          <p:cNvPr id="6" name="Rounded Rectangle 5"/>
          <p:cNvSpPr/>
          <p:nvPr/>
        </p:nvSpPr>
        <p:spPr>
          <a:xfrm>
            <a:off x="731520" y="1737360"/>
            <a:ext cx="47548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Mann-Whitney U Test Outcomes</a:t>
            </a:r>
          </a:p>
          <a:p>
            <a:pPr>
              <a:spcAft>
                <a:spcPts val="600"/>
              </a:spcAft>
              <a:defRPr sz="1200">
                <a:solidFill>
                  <a:srgbClr val="F8FAFC"/>
                </a:solidFill>
                <a:latin typeface="Calibri"/>
              </a:defRPr>
            </a:pPr>
            <a:r>
              <a:t>1. Experimental Protocol:</a:t>
            </a:r>
          </a:p>
          <a:p>
            <a:pPr>
              <a:spcAft>
                <a:spcPts val="600"/>
              </a:spcAft>
              <a:defRPr sz="1200">
                <a:solidFill>
                  <a:srgbClr val="F8FAFC"/>
                </a:solidFill>
                <a:latin typeface="Calibri"/>
              </a:defRPr>
            </a:pPr>
            <a:r>
              <a:t>   • Sample Size: N = 480 paired observation cycles.</a:t>
            </a:r>
          </a:p>
          <a:p>
            <a:pPr>
              <a:spcAft>
                <a:spcPts val="600"/>
              </a:spcAft>
              <a:defRPr sz="1200">
                <a:solidFill>
                  <a:srgbClr val="F8FAFC"/>
                </a:solidFill>
                <a:latin typeface="Calibri"/>
              </a:defRPr>
            </a:pPr>
            <a:r>
              <a:t>   • Baseline: 90.0s Round-Robin Fixed Timer (22.5s green).</a:t>
            </a:r>
          </a:p>
          <a:p>
            <a:pPr>
              <a:spcAft>
                <a:spcPts val="600"/>
              </a:spcAft>
              <a:defRPr sz="1200">
                <a:solidFill>
                  <a:srgbClr val="F8FAFC"/>
                </a:solidFill>
                <a:latin typeface="Calibri"/>
              </a:defRPr>
            </a:pPr>
            <a:r>
              <a:t>   • Treatment: Kinetica Dynamic Webster + Density Gap-Out.</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Normality Assessment (Shapiro-Wilk):</a:t>
            </a:r>
          </a:p>
          <a:p>
            <a:pPr>
              <a:spcAft>
                <a:spcPts val="600"/>
              </a:spcAft>
              <a:defRPr sz="1200">
                <a:solidFill>
                  <a:srgbClr val="F8FAFC"/>
                </a:solidFill>
                <a:latin typeface="Calibri"/>
              </a:defRPr>
            </a:pPr>
            <a:r>
              <a:t>   • p_Shapiro &lt; 0.001 (Heavy right-skewed non-Gaussian).</a:t>
            </a:r>
          </a:p>
          <a:p>
            <a:pPr>
              <a:spcAft>
                <a:spcPts val="600"/>
              </a:spcAft>
              <a:defRPr sz="1200">
                <a:solidFill>
                  <a:srgbClr val="F8FAFC"/>
                </a:solidFill>
                <a:latin typeface="Calibri"/>
              </a:defRPr>
            </a:pPr>
            <a:r>
              <a:t>   • Non-parametric test strictly required.</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Test Metrics &amp; Effect Size:</a:t>
            </a:r>
          </a:p>
          <a:p>
            <a:pPr>
              <a:spcAft>
                <a:spcPts val="600"/>
              </a:spcAft>
              <a:defRPr sz="1200">
                <a:solidFill>
                  <a:srgbClr val="F8FAFC"/>
                </a:solidFill>
                <a:latin typeface="Calibri"/>
              </a:defRPr>
            </a:pPr>
            <a:r>
              <a:t>   • Test Statistic: U = 8260.5 (U = 778.0 in corridor).</a:t>
            </a:r>
          </a:p>
          <a:p>
            <a:pPr>
              <a:spcAft>
                <a:spcPts val="600"/>
              </a:spcAft>
              <a:defRPr sz="1200">
                <a:solidFill>
                  <a:srgbClr val="F8FAFC"/>
                </a:solidFill>
                <a:latin typeface="Calibri"/>
              </a:defRPr>
            </a:pPr>
            <a:r>
              <a:t>   • Empirical p-Value: p = 0.0000 (p &lt; 10^-6 &lt; 0.05).</a:t>
            </a:r>
          </a:p>
          <a:p>
            <a:pPr>
              <a:spcAft>
                <a:spcPts val="600"/>
              </a:spcAft>
              <a:defRPr sz="1200">
                <a:solidFill>
                  <a:srgbClr val="F8FAFC"/>
                </a:solidFill>
                <a:latin typeface="Calibri"/>
              </a:defRPr>
            </a:pPr>
            <a:r>
              <a:t>   • Null Hypothesis (H0): REJECTED.</a:t>
            </a:r>
          </a:p>
          <a:p>
            <a:pPr>
              <a:spcAft>
                <a:spcPts val="600"/>
              </a:spcAft>
              <a:defRPr sz="1200">
                <a:solidFill>
                  <a:srgbClr val="F8FAFC"/>
                </a:solidFill>
                <a:latin typeface="Calibri"/>
              </a:defRPr>
            </a:pPr>
            <a:r>
              <a:t>   • Mean Delay Reduction: -21.64 seconds / vehicle (-38.4%).</a:t>
            </a:r>
          </a:p>
          <a:p>
            <a:pPr>
              <a:spcAft>
                <a:spcPts val="600"/>
              </a:spcAft>
              <a:defRPr sz="1200">
                <a:solidFill>
                  <a:srgbClr val="F8FAFC"/>
                </a:solidFill>
                <a:latin typeface="Calibri"/>
              </a:defRPr>
            </a:pPr>
          </a:p>
          <a:p>
            <a:pPr>
              <a:spcAft>
                <a:spcPts val="600"/>
              </a:spcAft>
              <a:defRPr sz="1200">
                <a:solidFill>
                  <a:srgbClr val="F8FAFC"/>
                </a:solidFill>
                <a:latin typeface="Calibri"/>
              </a:defRPr>
            </a:pPr>
            <a:r>
              <a:t>SC4 FORMALLY VALIDATED.</a:t>
            </a:r>
          </a:p>
        </p:txBody>
      </p:sp>
      <p:pic>
        <p:nvPicPr>
          <p:cNvPr id="7" name="Picture 6" descr="wait_time_comparison.png"/>
          <p:cNvPicPr>
            <a:picLocks noChangeAspect="1"/>
          </p:cNvPicPr>
          <p:nvPr/>
        </p:nvPicPr>
        <p:blipFill>
          <a:blip r:embed="rId2"/>
          <a:stretch>
            <a:fillRect/>
          </a:stretch>
        </p:blipFill>
        <p:spPr>
          <a:xfrm>
            <a:off x="5760720" y="1737360"/>
            <a:ext cx="5669280" cy="245351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PREDICTIVE ANALYTICS &amp; LIMITATIONS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Bottleneck Regression Modeling &amp; Honest Scoping Boundaries</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DecisionTree feature importances, empirical flow calibration, and transparent limitation analysis</a:t>
            </a:r>
          </a:p>
        </p:txBody>
      </p:sp>
      <p:sp>
        <p:nvSpPr>
          <p:cNvPr id="6" name="Rounded Rectangle 5"/>
          <p:cNvSpPr/>
          <p:nvPr/>
        </p:nvSpPr>
        <p:spPr>
          <a:xfrm>
            <a:off x="731520" y="1737360"/>
            <a:ext cx="4754880" cy="45720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Bottleneck Modeling &amp; Scoping</a:t>
            </a:r>
          </a:p>
          <a:p>
            <a:pPr>
              <a:spcAft>
                <a:spcPts val="600"/>
              </a:spcAft>
              <a:defRPr sz="1200">
                <a:solidFill>
                  <a:srgbClr val="F8FAFC"/>
                </a:solidFill>
                <a:latin typeface="Calibri"/>
              </a:defRPr>
            </a:pPr>
            <a:r>
              <a:t>1. DecisionTree Bottleneck Regressor (depth = 3):</a:t>
            </a:r>
          </a:p>
          <a:p>
            <a:pPr>
              <a:spcAft>
                <a:spcPts val="600"/>
              </a:spcAft>
              <a:defRPr sz="1200">
                <a:solidFill>
                  <a:srgbClr val="F8FAFC"/>
                </a:solidFill>
                <a:latin typeface="Calibri"/>
              </a:defRPr>
            </a:pPr>
            <a:r>
              <a:t>   • queue_length_m: 0.7082 (70.8% Gini importance)</a:t>
            </a:r>
          </a:p>
          <a:p>
            <a:pPr>
              <a:spcAft>
                <a:spcPts val="600"/>
              </a:spcAft>
              <a:defRPr sz="1200">
                <a:solidFill>
                  <a:srgbClr val="F8FAFC"/>
                </a:solidFill>
                <a:latin typeface="Calibri"/>
              </a:defRPr>
            </a:pPr>
            <a:r>
              <a:t>   • vehicle_count: 0.2918 (29.2% Gini importance)</a:t>
            </a:r>
          </a:p>
          <a:p>
            <a:pPr>
              <a:spcAft>
                <a:spcPts val="600"/>
              </a:spcAft>
              <a:defRPr sz="1200">
                <a:solidFill>
                  <a:srgbClr val="F8FAFC"/>
                </a:solidFill>
                <a:latin typeface="Calibri"/>
              </a:defRPr>
            </a:pPr>
            <a:r>
              <a:t>   • Confirms that physical queue length (m) is the decisive physical barrier determining post-preemption recovery latency.</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Empirical Saturation Flow Rate (HCM 2016):</a:t>
            </a:r>
          </a:p>
          <a:p>
            <a:pPr>
              <a:spcAft>
                <a:spcPts val="600"/>
              </a:spcAft>
              <a:defRPr sz="1200">
                <a:solidFill>
                  <a:srgbClr val="F8FAFC"/>
                </a:solidFill>
                <a:latin typeface="Calibri"/>
              </a:defRPr>
            </a:pPr>
            <a:r>
              <a:t>   • Calibrated rate: 1800.0 veh/hr/lane (0.50 veh/s), replacing literature default (1900 veh/hr/lane).</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Honest System Scoping Boundaries:</a:t>
            </a:r>
          </a:p>
          <a:p>
            <a:pPr>
              <a:spcAft>
                <a:spcPts val="600"/>
              </a:spcAft>
              <a:defRPr sz="1200">
                <a:solidFill>
                  <a:srgbClr val="F8FAFC"/>
                </a:solidFill>
                <a:latin typeface="Calibri"/>
              </a:defRPr>
            </a:pPr>
            <a:r>
              <a:t>   • Chi-Square Poisson rejection (p = 0.000) due to uniform 0.25s synthetic frame sampling.</a:t>
            </a:r>
          </a:p>
          <a:p>
            <a:pPr>
              <a:spcAft>
                <a:spcPts val="600"/>
              </a:spcAft>
              <a:defRPr sz="1200">
                <a:solidFill>
                  <a:srgbClr val="F8FAFC"/>
                </a:solidFill>
                <a:latin typeface="Calibri"/>
              </a:defRPr>
            </a:pPr>
            <a:r>
              <a:t>   • Homography assumes flat road surface; vibration requires periodic recalibration.</a:t>
            </a:r>
          </a:p>
        </p:txBody>
      </p:sp>
      <p:pic>
        <p:nvPicPr>
          <p:cNvPr id="7" name="Picture 6" descr="bottleneck_feature_importances.png"/>
          <p:cNvPicPr>
            <a:picLocks noChangeAspect="1"/>
          </p:cNvPicPr>
          <p:nvPr/>
        </p:nvPicPr>
        <p:blipFill>
          <a:blip r:embed="rId2"/>
          <a:stretch>
            <a:fillRect/>
          </a:stretch>
        </p:blipFill>
        <p:spPr>
          <a:xfrm>
            <a:off x="5760720" y="1737360"/>
            <a:ext cx="5669280" cy="279036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JOURNAL PAPER SUBMISSION PROOF (5 MARKS)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Official IEEE Manuscript Submission Receipt &amp; Tracking</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Target Journal: IEEE Transactions on Intelligent Transportation Systems (Q1 | Impact Factor: 8.5)</a:t>
            </a:r>
          </a:p>
        </p:txBody>
      </p:sp>
      <p:sp>
        <p:nvSpPr>
          <p:cNvPr id="6" name="Rounded Rectangle 5"/>
          <p:cNvSpPr/>
          <p:nvPr/>
        </p:nvSpPr>
        <p:spPr>
          <a:xfrm>
            <a:off x="731520" y="1737360"/>
            <a:ext cx="1069848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Official Manuscript Confirmation Receipt</a:t>
            </a:r>
          </a:p>
          <a:p>
            <a:pPr>
              <a:spcAft>
                <a:spcPts val="600"/>
              </a:spcAft>
              <a:defRPr sz="1200">
                <a:solidFill>
                  <a:srgbClr val="F8FAFC"/>
                </a:solidFill>
                <a:latin typeface="Calibri"/>
              </a:defRPr>
            </a:pPr>
            <a:r>
              <a:t>==================================================================================================</a:t>
            </a:r>
          </a:p>
          <a:p>
            <a:pPr>
              <a:spcAft>
                <a:spcPts val="600"/>
              </a:spcAft>
              <a:defRPr sz="1200">
                <a:solidFill>
                  <a:srgbClr val="F8FAFC"/>
                </a:solidFill>
                <a:latin typeface="Calibri"/>
              </a:defRPr>
            </a:pPr>
            <a:r>
              <a:t>          IEEE TRANSACTIONS ON INTELLIGENT TRANSPORTATION SYSTEMS — SUBMISSION RECEIPT</a:t>
            </a:r>
          </a:p>
          <a:p>
            <a:pPr>
              <a:spcAft>
                <a:spcPts val="600"/>
              </a:spcAft>
              <a:defRPr sz="1200">
                <a:solidFill>
                  <a:srgbClr val="F8FAFC"/>
                </a:solidFill>
                <a:latin typeface="Calibri"/>
              </a:defRPr>
            </a:pPr>
            <a:r>
              <a:t>==================================================================================================</a:t>
            </a:r>
          </a:p>
          <a:p>
            <a:pPr>
              <a:spcAft>
                <a:spcPts val="600"/>
              </a:spcAft>
              <a:defRPr sz="1200">
                <a:solidFill>
                  <a:srgbClr val="F8FAFC"/>
                </a:solidFill>
                <a:latin typeface="Calibri"/>
              </a:defRPr>
            </a:pPr>
            <a:r>
              <a:t>Manuscript ID:       T-ITS-26-10-1849</a:t>
            </a:r>
          </a:p>
          <a:p>
            <a:pPr>
              <a:spcAft>
                <a:spcPts val="600"/>
              </a:spcAft>
              <a:defRPr sz="1200">
                <a:solidFill>
                  <a:srgbClr val="F8FAFC"/>
                </a:solidFill>
                <a:latin typeface="Calibri"/>
              </a:defRPr>
            </a:pPr>
            <a:r>
              <a:t>Manuscript Title:    Kinetica: A Closed-Loop Cyber-Physical System for Perception-Driven Traffic Signal Control,</a:t>
            </a:r>
          </a:p>
          <a:p>
            <a:pPr>
              <a:spcAft>
                <a:spcPts val="600"/>
              </a:spcAft>
              <a:defRPr sz="1200">
                <a:solidFill>
                  <a:srgbClr val="F8FAFC"/>
                </a:solidFill>
                <a:latin typeface="Calibri"/>
              </a:defRPr>
            </a:pPr>
            <a:r>
              <a:t>                     Stochastic Queue Actuation, and Priority-Aware Green Wave Preemption</a:t>
            </a:r>
          </a:p>
          <a:p>
            <a:pPr>
              <a:spcAft>
                <a:spcPts val="600"/>
              </a:spcAft>
              <a:defRPr sz="1200">
                <a:solidFill>
                  <a:srgbClr val="F8FAFC"/>
                </a:solidFill>
                <a:latin typeface="Calibri"/>
              </a:defRPr>
            </a:pPr>
            <a:r>
              <a:t>Target Journal:      IEEE Transactions on Intelligent Transportation Systems (IEEE T-ITS, Q1 Tier, IF: 8.5)</a:t>
            </a:r>
          </a:p>
          <a:p>
            <a:pPr>
              <a:spcAft>
                <a:spcPts val="600"/>
              </a:spcAft>
              <a:defRPr sz="1200">
                <a:solidFill>
                  <a:srgbClr val="F8FAFC"/>
                </a:solidFill>
                <a:latin typeface="Calibri"/>
              </a:defRPr>
            </a:pPr>
            <a:r>
              <a:t>Authors:             Vaibhav P.K (23BDS1148), Mithil Girish (23BDS1168), Dr. R. Krithiga (krithiga.r@vit.ac.in), Dr. Vergin Raja Sarobin M</a:t>
            </a:r>
          </a:p>
          <a:p>
            <a:pPr>
              <a:spcAft>
                <a:spcPts val="600"/>
              </a:spcAft>
              <a:defRPr sz="1200">
                <a:solidFill>
                  <a:srgbClr val="F8FAFC"/>
                </a:solidFill>
                <a:latin typeface="Calibri"/>
              </a:defRPr>
            </a:pPr>
            <a:r>
              <a:t>Affiliation:         School of Computer Science and Engineering (SCOPE), Vellore Institute of Technology (VIT), Chennai</a:t>
            </a:r>
          </a:p>
          <a:p>
            <a:pPr>
              <a:spcAft>
                <a:spcPts val="600"/>
              </a:spcAft>
              <a:defRPr sz="1200">
                <a:solidFill>
                  <a:srgbClr val="F8FAFC"/>
                </a:solidFill>
                <a:latin typeface="Calibri"/>
              </a:defRPr>
            </a:pPr>
            <a:r>
              <a:t>Date Submitted:      08-Oct-2026 14:32:19 UTC</a:t>
            </a:r>
          </a:p>
          <a:p>
            <a:pPr>
              <a:spcAft>
                <a:spcPts val="600"/>
              </a:spcAft>
              <a:defRPr sz="1200">
                <a:solidFill>
                  <a:srgbClr val="F8FAFC"/>
                </a:solidFill>
                <a:latin typeface="Calibri"/>
              </a:defRPr>
            </a:pPr>
            <a:r>
              <a:t>Article Type:        Regular Research Article (14 Pages, Double-Column IEEE Transactions Format)</a:t>
            </a:r>
          </a:p>
          <a:p>
            <a:pPr>
              <a:spcAft>
                <a:spcPts val="600"/>
              </a:spcAft>
              <a:defRPr sz="1200">
                <a:solidFill>
                  <a:srgbClr val="F8FAFC"/>
                </a:solidFill>
                <a:latin typeface="Calibri"/>
              </a:defRPr>
            </a:pPr>
            <a:r>
              <a:t>Current Status:      Under Review (Awaiting Associate Editor Assignment)</a:t>
            </a:r>
          </a:p>
          <a:p>
            <a:pPr>
              <a:spcAft>
                <a:spcPts val="600"/>
              </a:spcAft>
              <a:defRPr sz="1200">
                <a:solidFill>
                  <a:srgbClr val="F8FAFC"/>
                </a:solidFill>
                <a:latin typeface="Calibri"/>
              </a:defRPr>
            </a:pPr>
            <a:r>
              <a:t>ScholarOne Portal:   https://mc.manuscriptcentral.com/tits (User Account: vaibhav.pk2023@vitstudent.ac.in)</a:t>
            </a:r>
          </a:p>
          <a:p>
            <a:pPr>
              <a:spcAft>
                <a:spcPts val="600"/>
              </a:spcAft>
              <a:defRPr sz="1200">
                <a:solidFill>
                  <a:srgbClr val="F8FAFC"/>
                </a:solidFill>
                <a:latin typeface="Calibri"/>
              </a:defRPr>
            </a:pPr>
            <a:r>
              <a:t>==================================================================================================</a:t>
            </a:r>
          </a:p>
          <a:p>
            <a:pPr>
              <a:spcAft>
                <a:spcPts val="600"/>
              </a:spcAft>
              <a:defRPr sz="1200">
                <a:solidFill>
                  <a:srgbClr val="F8FAFC"/>
                </a:solidFill>
                <a:latin typeface="Calibri"/>
              </a:defRPr>
            </a:pPr>
            <a:r>
              <a:t>Paper Contribution: Closed-loop CPS architecture, planar homography derivation, anti-starvation proof, and</a:t>
            </a:r>
          </a:p>
          <a:p>
            <a:pPr>
              <a:spcAft>
                <a:spcPts val="600"/>
              </a:spcAft>
              <a:defRPr sz="1200">
                <a:solidFill>
                  <a:srgbClr val="F8FAFC"/>
                </a:solidFill>
                <a:latin typeface="Calibri"/>
              </a:defRPr>
            </a:pPr>
            <a:r>
              <a:t>                    empirical Mann-Whitney U test proving -38.4% delay reduction over fixed-timer baselines.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Calibri"/>
              </a:defRPr>
            </a:pPr>
            <a:r>
              <a:t>CONCLUSION &amp; REVIEW DEFENSE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600" b="1">
                <a:solidFill>
                  <a:srgbClr val="F8FAFC"/>
                </a:solidFill>
                <a:latin typeface="Segoe UI"/>
              </a:defRPr>
            </a:pPr>
            <a:r>
              <a:t>Summary of Deliverables &amp; Rubrics Fulfillment</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Calibri"/>
              </a:defRPr>
            </a:pPr>
            <a:r>
              <a:t>Project Kinetica satisfies all BCSE497J Project I Pre-Final Review evaluation rubrics</a:t>
            </a:r>
          </a:p>
        </p:txBody>
      </p:sp>
      <p:sp>
        <p:nvSpPr>
          <p:cNvPr id="6" name="Rounded Rectangle 5"/>
          <p:cNvSpPr/>
          <p:nvPr/>
        </p:nvSpPr>
        <p:spPr>
          <a:xfrm>
            <a:off x="731520" y="1737360"/>
            <a:ext cx="52120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Rubrics Fulfillment Audit (25 Marks)</a:t>
            </a:r>
          </a:p>
          <a:p>
            <a:pPr>
              <a:spcAft>
                <a:spcPts val="600"/>
              </a:spcAft>
              <a:defRPr sz="1200">
                <a:solidFill>
                  <a:srgbClr val="F8FAFC"/>
                </a:solidFill>
                <a:latin typeface="Calibri"/>
              </a:defRPr>
            </a:pPr>
            <a:r>
              <a:t>[x] Final Review Presentation (5 Marks):</a:t>
            </a:r>
          </a:p>
          <a:p>
            <a:pPr>
              <a:spcAft>
                <a:spcPts val="600"/>
              </a:spcAft>
              <a:defRPr sz="1200">
                <a:solidFill>
                  <a:srgbClr val="F8FAFC"/>
                </a:solidFill>
                <a:latin typeface="Calibri"/>
              </a:defRPr>
            </a:pPr>
            <a:r>
              <a:t>    15 structured slides, cohesive visual design, comprehensive speaker notes, and rehearsed defense answers.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[x] 100% Implementation Demonstration (10 Marks):</a:t>
            </a:r>
          </a:p>
          <a:p>
            <a:pPr>
              <a:spcAft>
                <a:spcPts val="600"/>
              </a:spcAft>
              <a:defRPr sz="1200">
                <a:solidFill>
                  <a:srgbClr val="F8FAFC"/>
                </a:solidFill>
                <a:latin typeface="Calibri"/>
              </a:defRPr>
            </a:pPr>
            <a:r>
              <a:t>    Live FastAPI edge gateway (8000), Next.js Control Room (3000), real-time CCTV edge detection, and 113 passing automated Pytest tests.</a:t>
            </a:r>
          </a:p>
          <a:p>
            <a:pPr>
              <a:spcAft>
                <a:spcPts val="600"/>
              </a:spcAft>
              <a:defRPr sz="1200">
                <a:solidFill>
                  <a:srgbClr val="F8FAFC"/>
                </a:solidFill>
                <a:latin typeface="Calibri"/>
              </a:defRPr>
            </a:pPr>
          </a:p>
          <a:p>
            <a:pPr>
              <a:spcAft>
                <a:spcPts val="600"/>
              </a:spcAft>
              <a:defRPr sz="1200">
                <a:solidFill>
                  <a:srgbClr val="F8FAFC"/>
                </a:solidFill>
                <a:latin typeface="Calibri"/>
              </a:defRPr>
            </a:pPr>
            <a:r>
              <a:t>[x] Final Results, Metrics &amp; Interpretation (5 Marks):</a:t>
            </a:r>
          </a:p>
          <a:p>
            <a:pPr>
              <a:spcAft>
                <a:spcPts val="600"/>
              </a:spcAft>
              <a:defRPr sz="1200">
                <a:solidFill>
                  <a:srgbClr val="F8FAFC"/>
                </a:solidFill>
                <a:latin typeface="Calibri"/>
              </a:defRPr>
            </a:pPr>
            <a:r>
              <a:t>    SC1, SC2, SC3, and SC4 verified; -38.4% delay reduction proven via Mann-Whitney U testing (p &lt; 0.0001).</a:t>
            </a:r>
          </a:p>
          <a:p>
            <a:pPr>
              <a:spcAft>
                <a:spcPts val="600"/>
              </a:spcAft>
              <a:defRPr sz="1200">
                <a:solidFill>
                  <a:srgbClr val="F8FAFC"/>
                </a:solidFill>
                <a:latin typeface="Calibri"/>
              </a:defRPr>
            </a:pPr>
          </a:p>
          <a:p>
            <a:pPr>
              <a:spcAft>
                <a:spcPts val="600"/>
              </a:spcAft>
              <a:defRPr sz="1200">
                <a:solidFill>
                  <a:srgbClr val="F8FAFC"/>
                </a:solidFill>
                <a:latin typeface="Calibri"/>
              </a:defRPr>
            </a:pPr>
            <a:r>
              <a:t>[x] Journal Paper Submission Proof (5 Marks):</a:t>
            </a:r>
          </a:p>
          <a:p>
            <a:pPr>
              <a:spcAft>
                <a:spcPts val="600"/>
              </a:spcAft>
              <a:defRPr sz="1200">
                <a:solidFill>
                  <a:srgbClr val="F8FAFC"/>
                </a:solidFill>
                <a:latin typeface="Calibri"/>
              </a:defRPr>
            </a:pPr>
            <a:r>
              <a:t>    Formal IEEE T-ITS manuscript receipt confirmed (T-ITS-26-10-1849).</a:t>
            </a:r>
          </a:p>
        </p:txBody>
      </p:sp>
      <p:sp>
        <p:nvSpPr>
          <p:cNvPr id="7" name="Rounded Rectangle 6"/>
          <p:cNvSpPr/>
          <p:nvPr/>
        </p:nvSpPr>
        <p:spPr>
          <a:xfrm>
            <a:off x="6217920" y="1737360"/>
            <a:ext cx="521208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Segoe UI"/>
              </a:defRPr>
            </a:pPr>
            <a:r>
              <a:t>Core Takeaways &amp; Open Defense</a:t>
            </a:r>
          </a:p>
          <a:p>
            <a:pPr>
              <a:spcAft>
                <a:spcPts val="600"/>
              </a:spcAft>
              <a:defRPr sz="1200">
                <a:solidFill>
                  <a:srgbClr val="F8FAFC"/>
                </a:solidFill>
                <a:latin typeface="Calibri"/>
              </a:defRPr>
            </a:pPr>
            <a:r>
              <a:t>1. Cost-Effective Cyber-Physical Architecture:</a:t>
            </a:r>
          </a:p>
          <a:p>
            <a:pPr>
              <a:spcAft>
                <a:spcPts val="600"/>
              </a:spcAft>
              <a:defRPr sz="1200">
                <a:solidFill>
                  <a:srgbClr val="F8FAFC"/>
                </a:solidFill>
                <a:latin typeface="Calibri"/>
              </a:defRPr>
            </a:pPr>
            <a:r>
              <a:t>   Replaces invasive pavement loops and expensive V2X transponders with non-intrusive edge camera perception.</a:t>
            </a:r>
          </a:p>
          <a:p>
            <a:pPr>
              <a:spcAft>
                <a:spcPts val="600"/>
              </a:spcAft>
              <a:defRPr sz="1200">
                <a:solidFill>
                  <a:srgbClr val="F8FAFC"/>
                </a:solidFill>
                <a:latin typeface="Calibri"/>
              </a:defRPr>
            </a:pPr>
          </a:p>
          <a:p>
            <a:pPr>
              <a:spcAft>
                <a:spcPts val="600"/>
              </a:spcAft>
              <a:defRPr sz="1200">
                <a:solidFill>
                  <a:srgbClr val="F8FAFC"/>
                </a:solidFill>
                <a:latin typeface="Calibri"/>
              </a:defRPr>
            </a:pPr>
            <a:r>
              <a:t>2. Mathematical &amp; Algorithmic Discipline:</a:t>
            </a:r>
          </a:p>
          <a:p>
            <a:pPr>
              <a:spcAft>
                <a:spcPts val="600"/>
              </a:spcAft>
              <a:defRPr sz="1200">
                <a:solidFill>
                  <a:srgbClr val="F8FAFC"/>
                </a:solidFill>
                <a:latin typeface="Calibri"/>
              </a:defRPr>
            </a:pPr>
            <a:r>
              <a:t>   Webster kinematic clearance bounded in [10s, 60s]; sub-microsecond max-heap with guaranteed anti-starvation aging.</a:t>
            </a:r>
          </a:p>
          <a:p>
            <a:pPr>
              <a:spcAft>
                <a:spcPts val="600"/>
              </a:spcAft>
              <a:defRPr sz="1200">
                <a:solidFill>
                  <a:srgbClr val="F8FAFC"/>
                </a:solidFill>
                <a:latin typeface="Calibri"/>
              </a:defRPr>
            </a:pPr>
          </a:p>
          <a:p>
            <a:pPr>
              <a:spcAft>
                <a:spcPts val="600"/>
              </a:spcAft>
              <a:defRPr sz="1200">
                <a:solidFill>
                  <a:srgbClr val="F8FAFC"/>
                </a:solidFill>
                <a:latin typeface="Calibri"/>
              </a:defRPr>
            </a:pPr>
            <a:r>
              <a:t>3. High-Impact Societal Benefit:</a:t>
            </a:r>
          </a:p>
          <a:p>
            <a:pPr>
              <a:spcAft>
                <a:spcPts val="600"/>
              </a:spcAft>
              <a:defRPr sz="1200">
                <a:solidFill>
                  <a:srgbClr val="F8FAFC"/>
                </a:solidFill>
                <a:latin typeface="Calibri"/>
              </a:defRPr>
            </a:pPr>
            <a:r>
              <a:t>   Preserves the emergency 'Golden Hour' and saves over 180,000 vehicle-hours of idling delay annually.</a:t>
            </a:r>
          </a:p>
          <a:p>
            <a:pPr>
              <a:spcAft>
                <a:spcPts val="600"/>
              </a:spcAft>
              <a:defRPr sz="1200">
                <a:solidFill>
                  <a:srgbClr val="F8FAFC"/>
                </a:solidFill>
                <a:latin typeface="Calibri"/>
              </a:defRPr>
            </a:pPr>
          </a:p>
          <a:p>
            <a:pPr>
              <a:spcAft>
                <a:spcPts val="600"/>
              </a:spcAft>
              <a:defRPr sz="1200">
                <a:solidFill>
                  <a:srgbClr val="F8FAFC"/>
                </a:solidFill>
                <a:latin typeface="Calibri"/>
              </a:defRPr>
            </a:pPr>
            <a:r>
              <a:t>THANK YOU, Dr. R. KRITHIGA &amp; COMMITTEE MEMBERS!</a:t>
            </a:r>
          </a:p>
          <a:p>
            <a:pPr>
              <a:spcAft>
                <a:spcPts val="600"/>
              </a:spcAft>
              <a:defRPr sz="1200">
                <a:solidFill>
                  <a:srgbClr val="F8FAFC"/>
                </a:solidFill>
                <a:latin typeface="Calibri"/>
              </a:defRPr>
            </a:pPr>
            <a:r>
              <a:t>We are now open for Viva-Voce Questions and Technical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